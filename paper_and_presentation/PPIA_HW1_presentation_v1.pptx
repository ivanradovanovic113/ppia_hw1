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89fb0bd-c871-be31-22eb-449b94f185d0}">
          <p14:sldIdLst>
            <p14:sldId id="256"/>
          </p14:sldIdLst>
        </p14:section>
        <p14:section name="Setting and data" id="{ecf01c55-4729-b3c3-2639-0e774a62f21f}">
          <p14:sldIdLst>
            <p14:sldId id="257"/>
            <p14:sldId id="258"/>
            <p14:sldId id="259"/>
            <p14:sldId id="260"/>
          </p14:sldIdLst>
        </p14:section>
        <p14:section name="Utility" id="{fc524c00-70eb-347f-f8d0-f0dbec2bb9cf}">
          <p14:sldIdLst>
            <p14:sldId id="261"/>
          </p14:sldIdLst>
        </p14:section>
        <p14:section name="Anonymization" id="{f3bd4c8f-626f-fee8-fb2b-00f75bcc4470}">
          <p14:sldIdLst>
            <p14:sldId id="262"/>
            <p14:sldId id="263"/>
            <p14:sldId id="264"/>
          </p14:sldIdLst>
        </p14:section>
        <p14:section name="Conclusions" id="{2916f717-81b8-8fb0-b2e4-bda49e02ca6e}">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 Hi, we are group 5: Ivan, Laszlo and Maxime. Our homework is about anonymizing the Google Local Reviews dataset, so that it can be published for research without exposing the people who wrote the reviews.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We used the Google Local Reviews dataset from the McAuley Lab at UC San Diego: public Google Maps reviews up to 2021, one file per US state. We took Vermont: after removing about ten thousand duplicates, almost 842 thousand reviews from 288 thousand users about 11 thousand places. We also generated one synthetic attribute, the amount spent, so we have a financial value to protect. This kind of data is used for recommender systems and customer-satisfaction research, but every row is a real person at a real place. Our goal is to release it while the reviewers stay private.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This table is the core of our analysis. The identifiers are the name, usually the real one, and the user_id, which leads to the public Google profile and joins all reviews of one person; both are removed. The quasi-identifiers don't identify anyone alone but do in combination: the time, the place, the rating and the amount spent. The sensitive attributes are the free text and the owner's reply, which can contain names, family or health details, the photos, and again the spending. The last column already shows what we publish for each one; we'll come back to it in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Why is this dangerous in Vermont? Almost two thirds of users wrote just one review, and more than a third of the places have fewer than ten. So the crowd to hide in is tiny. The timestamps are unique, and some places are sensitive in themselves, like clinics or churches. Knowing the place and roughly when someone was there is often enough to find their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Once the data is public, anyone can download it: data brokers and profilers, advertisers, insurers or employers, or simply someone who knows the victim. The attack is record linkage. The user_id leads to the public profile and to reviews in other states. Name, town and month can be matched with social networks or public registers. Addresses of hotels or home services can be joined with property records. And the attacker only gets stronger over time, while a released copy can never be taken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As our utility measure we asked: is the length of a review related to its rating? On the original data, clearly yes: short reviews are only about 5% negative, while reviews over 1,000 characters are almost 50% negative. After anonymization we only publish three length classes, and the pattern is still there: 5, 11 and 35% negative. So the main finding survives.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Now the code. First, user_id and name are removed. For the date we drop the time of day and keep only the year and month, one step up the generalization hierarchy: 3,939 distinct days become 177 months. The review text and the owner's reply are replaced by a length class: short under 50 characters, medium up to 500, long above. For replies we also keep the delay between the review and the reply.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The amount spent starts out very spread out, from free parks to car purchases over ten thousand dollars, as the figure shows. Inside each type of place we raise everything below the 5% quantile and cap everything above the 95% quantile, because one huge purchase identifies a review on its own. Then we round to a ladder of tiers and merge tiers with less than 5% of the reviews. Only seven values remain, from 0 to 500 dollars, at the price of a median relative error of about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The most dangerous quasi-identifier left was the place, since many places have very few reviews. We replace the place ID with its categories, and every group we publish must have at least five reviews. The code is a three-step ladder: keep the full category list if five reviews share it, otherwise only the first category, and as a last resort we suppress the place for that review. 99.85% of reviews keep the full list, 1,031 lose the place, and nothing is deleted.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To conclude: we kept every review, removed the direct link to the reviewer, and the analyses we care about still work. Next steps would be l-diversity and t-closeness. Three questions for you. First: k = 5 holds for the place alone, but on month, category, rating and spent together only 48% of reviews are in a group of at least five. Should k-anonymity cover all quasi-identifiers together? Second: a group made only of health or religious places still leaks that fact. Is l-diversity a must? Third: could an LLM sentiment score replace the length class safely?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594360"/>
          </a:xfrm>
          <a:prstGeom prst="rect">
            <a:avLst/>
          </a:prstGeom>
          <a:noFill/>
          <a:ln/>
        </p:spPr>
        <p:txBody>
          <a:bodyPr wrap="square" rtlCol="0"/>
          <a:lstStyle>
            <a:lvl1pPr algn="l" indent="0" marL="0">
              <a:buNone/>
              <a:defRPr lang="en-US" sz="2600" dirty="0">
                <a:solidFill>
                  <a:schemeClr val="tx1"/>
                </a:solidFill>
              </a:defRPr>
            </a:lvl1pPr>
          </a:lstStyle>
          <a:p>
            <a:pPr algn="l" indent="0" marL="0">
              <a:buNone/>
            </a:pPr>
            <a:endParaRPr lang="en-US" sz="2600" dirty="0"/>
          </a:p>
        </p:txBody>
      </p:sp>
      <p:sp>
        <p:nvSpPr>
          <p:cNvPr id="3" name="Text 0"/>
          <p:cNvSpPr/>
          <p:nvPr/>
        </p:nvSpPr>
        <p:spPr>
          <a:xfrm>
            <a:off x="548640" y="4754880"/>
            <a:ext cx="3657600" cy="228600"/>
          </a:xfrm>
          <a:prstGeom prst="rect">
            <a:avLst/>
          </a:prstGeom>
          <a:noFill/>
          <a:ln/>
        </p:spPr>
        <p:txBody>
          <a:bodyPr wrap="square" lIns="0" tIns="0" rIns="0" bIns="0" rtlCol="0" anchor="ctr"/>
          <a:lstStyle/>
          <a:p>
            <a:pPr indent="0" marL="0">
              <a:buNone/>
            </a:pPr>
            <a:r>
              <a:rPr lang="en-US" sz="900" dirty="0">
                <a:solidFill>
                  <a:schemeClr val="tx2"/>
                </a:solidFill>
              </a:rPr>
              <a:t>PPIA · Homework 1 · Group 5</a:t>
            </a:r>
            <a:endParaRPr lang="en-US" sz="9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LAIN">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188720"/>
            <a:ext cx="7680960" cy="320040"/>
          </a:xfrm>
          <a:prstGeom prst="rect">
            <a:avLst/>
          </a:prstGeom>
          <a:noFill/>
          <a:ln/>
        </p:spPr>
        <p:txBody>
          <a:bodyPr wrap="square" lIns="0" tIns="0" rIns="0" bIns="0" rtlCol="0" anchor="t"/>
          <a:lstStyle/>
          <a:p>
            <a:pPr indent="0" marL="0">
              <a:buNone/>
            </a:pPr>
            <a:r>
              <a:rPr lang="en-US" sz="1400" dirty="0">
                <a:solidFill>
                  <a:schemeClr val="tx2"/>
                </a:solidFill>
              </a:rPr>
              <a:t>Privacy Preserving Information Access — Homework 1</a:t>
            </a:r>
            <a:endParaRPr lang="en-US" sz="1400" dirty="0"/>
          </a:p>
        </p:txBody>
      </p:sp>
      <p:sp>
        <p:nvSpPr>
          <p:cNvPr id="3" name="Text 1"/>
          <p:cNvSpPr txBox="1"/>
          <p:nvPr/>
        </p:nvSpPr>
        <p:spPr>
          <a:xfrm>
            <a:off x="731520" y="1600200"/>
            <a:ext cx="7680960" cy="1280160"/>
          </a:xfrm>
          <a:prstGeom prst="rect">
            <a:avLst/>
          </a:prstGeom>
          <a:noFill/>
          <a:ln/>
        </p:spPr>
        <p:txBody>
          <a:bodyPr wrap="square" lIns="0" tIns="0" rIns="0" bIns="0" rtlCol="0" anchor="t"/>
          <a:lstStyle/>
          <a:p>
            <a:pPr indent="0" marL="0">
              <a:buNone/>
            </a:pPr>
            <a:r>
              <a:rPr lang="en-US" sz="3600" dirty="0">
                <a:solidFill>
                  <a:schemeClr val="tx1"/>
                </a:solidFill>
                <a:latin typeface="Georgia" pitchFamily="34" charset="0"/>
                <a:ea typeface="Georgia" pitchFamily="34" charset="-122"/>
                <a:cs typeface="Georgia" pitchFamily="34" charset="-120"/>
              </a:rPr>
              <a:t>Anonymizing the Google Local</a:t>
            </a:r>
            <a:endParaRPr lang="en-US" sz="3600" dirty="0"/>
          </a:p>
          <a:p>
            <a:pPr indent="0" marL="0">
              <a:buNone/>
            </a:pPr>
            <a:r>
              <a:rPr lang="en-US" sz="3600" dirty="0">
                <a:solidFill>
                  <a:schemeClr val="tx1"/>
                </a:solidFill>
                <a:latin typeface="Georgia" pitchFamily="34" charset="0"/>
                <a:ea typeface="Georgia" pitchFamily="34" charset="-122"/>
                <a:cs typeface="Georgia" pitchFamily="34" charset="-120"/>
              </a:rPr>
              <a:t>Reviews Dataset</a:t>
            </a:r>
            <a:endParaRPr lang="en-US" sz="3600" dirty="0"/>
          </a:p>
        </p:txBody>
      </p:sp>
      <p:sp>
        <p:nvSpPr>
          <p:cNvPr id="4" name="Text 2"/>
          <p:cNvSpPr txBox="1"/>
          <p:nvPr/>
        </p:nvSpPr>
        <p:spPr>
          <a:xfrm>
            <a:off x="731520" y="3246120"/>
            <a:ext cx="7680960" cy="274320"/>
          </a:xfrm>
          <a:prstGeom prst="rect">
            <a:avLst/>
          </a:prstGeom>
          <a:noFill/>
          <a:ln/>
        </p:spPr>
        <p:txBody>
          <a:bodyPr wrap="square" lIns="0" tIns="0" rIns="0" bIns="0" rtlCol="0" anchor="t"/>
          <a:lstStyle/>
          <a:p>
            <a:pPr indent="0" marL="0">
              <a:buNone/>
            </a:pPr>
            <a:r>
              <a:rPr lang="en-US" sz="1400" dirty="0">
                <a:solidFill>
                  <a:schemeClr val="tx1"/>
                </a:solidFill>
              </a:rPr>
              <a:t>Ivan Radovanovic, Laszlo Kosa, Maxime Henry</a:t>
            </a:r>
            <a:endParaRPr lang="en-US" sz="1400" dirty="0"/>
          </a:p>
        </p:txBody>
      </p:sp>
      <p:sp>
        <p:nvSpPr>
          <p:cNvPr id="5" name="Text 3"/>
          <p:cNvSpPr txBox="1"/>
          <p:nvPr/>
        </p:nvSpPr>
        <p:spPr>
          <a:xfrm>
            <a:off x="731520" y="3566160"/>
            <a:ext cx="7680960" cy="274320"/>
          </a:xfrm>
          <a:prstGeom prst="rect">
            <a:avLst/>
          </a:prstGeom>
          <a:noFill/>
          <a:ln/>
        </p:spPr>
        <p:txBody>
          <a:bodyPr wrap="square" lIns="0" tIns="0" rIns="0" bIns="0" rtlCol="0" anchor="t"/>
          <a:lstStyle/>
          <a:p>
            <a:pPr indent="0" marL="0">
              <a:buNone/>
            </a:pPr>
            <a:r>
              <a:rPr lang="en-US" sz="1300" dirty="0">
                <a:solidFill>
                  <a:schemeClr val="tx2"/>
                </a:solidFill>
              </a:rPr>
              <a:t>Group 5  ·  Academic Year 2026/2027</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594360"/>
          </a:xfrm>
          <a:prstGeom prst="rect">
            <a:avLst/>
          </a:prstGeom>
          <a:noFill/>
          <a:ln/>
        </p:spPr>
        <p:txBody>
          <a:bodyPr wrap="square" lIns="0" tIns="0" rIns="0" bIns="0" rtlCol="0" anchor="ctr"/>
          <a:lstStyle/>
          <a:p>
            <a:pPr algn="l" indent="0" marL="0">
              <a:buNone/>
            </a:pPr>
            <a:r>
              <a:rPr lang="en-US" sz="2600" dirty="0">
                <a:solidFill>
                  <a:schemeClr val="tx1"/>
                </a:solidFill>
              </a:rPr>
              <a:t>The context</a:t>
            </a:r>
            <a:endParaRPr lang="en-US" sz="2600" dirty="0"/>
          </a:p>
        </p:txBody>
      </p:sp>
      <p:sp>
        <p:nvSpPr>
          <p:cNvPr id="3" name="Text 1"/>
          <p:cNvSpPr txBox="1"/>
          <p:nvPr/>
        </p:nvSpPr>
        <p:spPr>
          <a:xfrm>
            <a:off x="548640" y="1143000"/>
            <a:ext cx="4297680" cy="2560320"/>
          </a:xfrm>
          <a:prstGeom prst="rect">
            <a:avLst/>
          </a:prstGeom>
          <a:noFill/>
          <a:ln/>
        </p:spPr>
        <p:txBody>
          <a:bodyPr wrap="square" lIns="0" tIns="0" rIns="0" bIns="0" rtlCol="0" anchor="t"/>
          <a:lstStyle/>
          <a:p>
            <a:pPr marL="342900" indent="-342900">
              <a:spcAft>
                <a:spcPts val="900"/>
              </a:spcAft>
              <a:buSzPct val="100000"/>
              <a:buChar char="•"/>
            </a:pPr>
            <a:r>
              <a:rPr lang="en-US" sz="1500" b="1" dirty="0">
                <a:solidFill>
                  <a:schemeClr val="tx1"/>
                </a:solidFill>
              </a:rPr>
              <a:t>Google Local Reviews</a:t>
            </a:r>
            <a:r>
              <a:rPr lang="en-US" sz="1500" dirty="0">
                <a:solidFill>
                  <a:schemeClr val="tx1"/>
                </a:solidFill>
              </a:rPr>
              <a:t> (McAuley Lab, UC San Diego): public Google Maps reviews up to Sept 2021</a:t>
            </a:r>
            <a:endParaRPr lang="en-US" sz="1500" dirty="0"/>
          </a:p>
          <a:p>
            <a:pPr marL="342900" indent="-342900">
              <a:spcAft>
                <a:spcPts val="900"/>
              </a:spcAft>
              <a:buSzPct val="100000"/>
              <a:buChar char="•"/>
            </a:pPr>
            <a:r>
              <a:rPr lang="en-US" sz="1500" dirty="0">
                <a:solidFill>
                  <a:schemeClr val="tx1"/>
                </a:solidFill>
              </a:rPr>
              <a:t>We use Vermont, plus each place's categories and price level</a:t>
            </a:r>
            <a:endParaRPr lang="en-US" sz="1500" dirty="0"/>
          </a:p>
          <a:p>
            <a:pPr marL="342900" indent="-342900">
              <a:spcAft>
                <a:spcPts val="900"/>
              </a:spcAft>
              <a:buSzPct val="100000"/>
              <a:buChar char="•"/>
            </a:pPr>
            <a:r>
              <a:rPr lang="en-US" sz="1500" dirty="0">
                <a:solidFill>
                  <a:schemeClr val="tx1"/>
                </a:solidFill>
              </a:rPr>
              <a:t>One synthetic attribute: </a:t>
            </a:r>
            <a:r>
              <a:rPr lang="en-US" sz="1500" b="1" dirty="0">
                <a:solidFill>
                  <a:schemeClr val="tx1"/>
                </a:solidFill>
              </a:rPr>
              <a:t>spent</a:t>
            </a:r>
            <a:r>
              <a:rPr lang="en-US" sz="1500" dirty="0">
                <a:solidFill>
                  <a:schemeClr val="tx1"/>
                </a:solidFill>
              </a:rPr>
              <a:t>, the amount paid during the visit</a:t>
            </a:r>
            <a:endParaRPr lang="en-US" sz="1500" dirty="0"/>
          </a:p>
          <a:p>
            <a:pPr marL="342900" indent="-342900">
              <a:spcAft>
                <a:spcPts val="900"/>
              </a:spcAft>
              <a:buSzPct val="100000"/>
              <a:buChar char="•"/>
            </a:pPr>
            <a:r>
              <a:rPr lang="en-US" sz="1500" dirty="0">
                <a:solidFill>
                  <a:schemeClr val="tx1"/>
                </a:solidFill>
              </a:rPr>
              <a:t>Typical uses: recommender systems, customer-satisfaction studies</a:t>
            </a:r>
            <a:endParaRPr lang="en-US" sz="1500" dirty="0"/>
          </a:p>
        </p:txBody>
      </p:sp>
      <p:sp>
        <p:nvSpPr>
          <p:cNvPr id="4" name="Text 2"/>
          <p:cNvSpPr txBox="1"/>
          <p:nvPr/>
        </p:nvSpPr>
        <p:spPr>
          <a:xfrm>
            <a:off x="548640" y="3931920"/>
            <a:ext cx="4297680" cy="457200"/>
          </a:xfrm>
          <a:prstGeom prst="rect">
            <a:avLst/>
          </a:prstGeom>
          <a:noFill/>
          <a:ln/>
        </p:spPr>
        <p:txBody>
          <a:bodyPr wrap="square" lIns="0" tIns="0" rIns="0" bIns="0" rtlCol="0" anchor="t"/>
          <a:lstStyle/>
          <a:p>
            <a:pPr indent="0" marL="0">
              <a:buNone/>
            </a:pPr>
            <a:r>
              <a:rPr lang="en-US" sz="1500" i="1" dirty="0">
                <a:solidFill>
                  <a:schemeClr val="accent1"/>
                </a:solidFill>
              </a:rPr>
              <a:t>Goal: release the data for research, keep the reviewers private.</a:t>
            </a:r>
            <a:endParaRPr lang="en-US" sz="1500" dirty="0"/>
          </a:p>
        </p:txBody>
      </p:sp>
      <p:sp>
        <p:nvSpPr>
          <p:cNvPr id="5" name="Text 3"/>
          <p:cNvSpPr txBox="1"/>
          <p:nvPr/>
        </p:nvSpPr>
        <p:spPr>
          <a:xfrm>
            <a:off x="5303520" y="1143000"/>
            <a:ext cx="3291840" cy="274320"/>
          </a:xfrm>
          <a:prstGeom prst="rect">
            <a:avLst/>
          </a:prstGeom>
          <a:noFill/>
          <a:ln/>
        </p:spPr>
        <p:txBody>
          <a:bodyPr wrap="square" lIns="0" tIns="0" rIns="0" bIns="0" rtlCol="0" anchor="t"/>
          <a:lstStyle/>
          <a:p>
            <a:pPr indent="0" marL="0">
              <a:buNone/>
            </a:pPr>
            <a:r>
              <a:rPr lang="en-US" sz="1300" b="1" dirty="0">
                <a:solidFill>
                  <a:schemeClr val="tx2"/>
                </a:solidFill>
              </a:rPr>
              <a:t>Vermont subset</a:t>
            </a:r>
            <a:endParaRPr lang="en-US" sz="1300" dirty="0"/>
          </a:p>
        </p:txBody>
      </p:sp>
      <p:graphicFrame>
        <p:nvGraphicFramePr>
          <p:cNvPr id="3" name="dataset table"/>
          <p:cNvGraphicFramePr>
            <a:graphicFrameLocks noGrp="1"/>
          </p:cNvGraphicFramePr>
          <p:nvPr>
            <p:extLst>
              <p:ext uri="{D42A27DB-BD31-4B8C-83A1-F6EECF244321}">
                <p14:modId xmlns:p14="http://schemas.microsoft.com/office/powerpoint/2010/main" val="1579011935"/>
              </p:ext>
            </p:extLst>
          </p:nvPr>
        </p:nvGraphicFramePr>
        <p:xfrm>
          <a:off x="5303520" y="1463040"/>
          <a:ext cx="3291840" cy="914400"/>
        </p:xfrm>
        <a:graphic>
          <a:graphicData uri="http://schemas.openxmlformats.org/drawingml/2006/table">
            <a:tbl>
              <a:tblPr/>
              <a:tblGrid>
                <a:gridCol w="1828800"/>
                <a:gridCol w="1463040"/>
              </a:tblGrid>
              <a:tr h="347472">
                <a:tc>
                  <a:txBody>
                    <a:bodyPr/>
                    <a:lstStyle/>
                    <a:p>
                      <a:pPr algn="l" indent="0" marL="0">
                        <a:buNone/>
                      </a:pP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1587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tcPr>
                </a:tc>
                <a:tc>
                  <a:txBody>
                    <a:bodyPr/>
                    <a:lstStyle/>
                    <a:p>
                      <a:pPr algn="r" indent="0" marL="0">
                        <a:buNone/>
                      </a:pPr>
                      <a:r>
                        <a:rPr lang="en-US" sz="1300" b="1" dirty="0">
                          <a:solidFill>
                            <a:srgbClr val="222222"/>
                          </a:solidFill>
                          <a:latin typeface="Arial" pitchFamily="34" charset="0"/>
                          <a:ea typeface="Arial" pitchFamily="34" charset="-122"/>
                          <a:cs typeface="Arial" pitchFamily="34" charset="-120"/>
                        </a:rPr>
                        <a:t>Count</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1587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tcPr>
                </a:tc>
              </a:tr>
              <a:tr h="347472">
                <a:tc>
                  <a:txBody>
                    <a:bodyPr/>
                    <a:lstStyle/>
                    <a:p>
                      <a:pPr algn="l" indent="0" marL="0">
                        <a:buNone/>
                      </a:pPr>
                      <a:r>
                        <a:rPr lang="en-US" sz="1300" dirty="0">
                          <a:solidFill>
                            <a:srgbClr val="222222"/>
                          </a:solidFill>
                          <a:latin typeface="Arial" pitchFamily="34" charset="0"/>
                          <a:ea typeface="Arial" pitchFamily="34" charset="-122"/>
                          <a:cs typeface="Arial" pitchFamily="34" charset="-120"/>
                        </a:rPr>
                        <a:t>Reviews</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c>
                  <a:txBody>
                    <a:bodyPr/>
                    <a:lstStyle/>
                    <a:p>
                      <a:pPr algn="r" indent="0" marL="0">
                        <a:buNone/>
                      </a:pPr>
                      <a:r>
                        <a:rPr lang="en-US" sz="1300" dirty="0">
                          <a:solidFill>
                            <a:srgbClr val="222222"/>
                          </a:solidFill>
                          <a:latin typeface="Arial" pitchFamily="34" charset="0"/>
                          <a:ea typeface="Arial" pitchFamily="34" charset="-122"/>
                          <a:cs typeface="Arial" pitchFamily="34" charset="-120"/>
                        </a:rPr>
                        <a:t>841,978</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r>
              <a:tr h="347472">
                <a:tc>
                  <a:txBody>
                    <a:bodyPr/>
                    <a:lstStyle/>
                    <a:p>
                      <a:pPr algn="l" indent="0" marL="0">
                        <a:buNone/>
                      </a:pPr>
                      <a:r>
                        <a:rPr lang="en-US" sz="1300" dirty="0">
                          <a:solidFill>
                            <a:srgbClr val="222222"/>
                          </a:solidFill>
                          <a:latin typeface="Arial" pitchFamily="34" charset="0"/>
                          <a:ea typeface="Arial" pitchFamily="34" charset="-122"/>
                          <a:cs typeface="Arial" pitchFamily="34" charset="-120"/>
                        </a:rPr>
                        <a:t>Users</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c>
                  <a:txBody>
                    <a:bodyPr/>
                    <a:lstStyle/>
                    <a:p>
                      <a:pPr algn="r" indent="0" marL="0">
                        <a:buNone/>
                      </a:pPr>
                      <a:r>
                        <a:rPr lang="en-US" sz="1300" dirty="0">
                          <a:solidFill>
                            <a:srgbClr val="222222"/>
                          </a:solidFill>
                          <a:latin typeface="Arial" pitchFamily="34" charset="0"/>
                          <a:ea typeface="Arial" pitchFamily="34" charset="-122"/>
                          <a:cs typeface="Arial" pitchFamily="34" charset="-120"/>
                        </a:rPr>
                        <a:t>288,212</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r>
              <a:tr h="347472">
                <a:tc>
                  <a:txBody>
                    <a:bodyPr/>
                    <a:lstStyle/>
                    <a:p>
                      <a:pPr algn="l" indent="0" marL="0">
                        <a:buNone/>
                      </a:pPr>
                      <a:r>
                        <a:rPr lang="en-US" sz="1300" dirty="0">
                          <a:solidFill>
                            <a:srgbClr val="222222"/>
                          </a:solidFill>
                          <a:latin typeface="Arial" pitchFamily="34" charset="0"/>
                          <a:ea typeface="Arial" pitchFamily="34" charset="-122"/>
                          <a:cs typeface="Arial" pitchFamily="34" charset="-120"/>
                        </a:rPr>
                        <a:t>Places</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c>
                  <a:txBody>
                    <a:bodyPr/>
                    <a:lstStyle/>
                    <a:p>
                      <a:pPr algn="r" indent="0" marL="0">
                        <a:buNone/>
                      </a:pPr>
                      <a:r>
                        <a:rPr lang="en-US" sz="1300" dirty="0">
                          <a:solidFill>
                            <a:srgbClr val="222222"/>
                          </a:solidFill>
                          <a:latin typeface="Arial" pitchFamily="34" charset="0"/>
                          <a:ea typeface="Arial" pitchFamily="34" charset="-122"/>
                          <a:cs typeface="Arial" pitchFamily="34" charset="-120"/>
                        </a:rPr>
                        <a:t>11,243</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r>
              <a:tr h="347472">
                <a:tc>
                  <a:txBody>
                    <a:bodyPr/>
                    <a:lstStyle/>
                    <a:p>
                      <a:pPr algn="l" indent="0" marL="0">
                        <a:buNone/>
                      </a:pPr>
                      <a:r>
                        <a:rPr lang="en-US" sz="1300" dirty="0">
                          <a:solidFill>
                            <a:srgbClr val="222222"/>
                          </a:solidFill>
                          <a:latin typeface="Arial" pitchFamily="34" charset="0"/>
                          <a:ea typeface="Arial" pitchFamily="34" charset="-122"/>
                          <a:cs typeface="Arial" pitchFamily="34" charset="-120"/>
                        </a:rPr>
                        <a:t>Duplicates removed</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c>
                  <a:txBody>
                    <a:bodyPr/>
                    <a:lstStyle/>
                    <a:p>
                      <a:pPr algn="r" indent="0" marL="0">
                        <a:buNone/>
                      </a:pPr>
                      <a:r>
                        <a:rPr lang="en-US" sz="1300" dirty="0">
                          <a:solidFill>
                            <a:srgbClr val="222222"/>
                          </a:solidFill>
                          <a:latin typeface="Arial" pitchFamily="34" charset="0"/>
                          <a:ea typeface="Arial" pitchFamily="34" charset="-122"/>
                          <a:cs typeface="Arial" pitchFamily="34" charset="-120"/>
                        </a:rPr>
                        <a:t>10,225</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r>
              <a:tr h="347472">
                <a:tc>
                  <a:txBody>
                    <a:bodyPr/>
                    <a:lstStyle/>
                    <a:p>
                      <a:pPr algn="l" indent="0" marL="0">
                        <a:buNone/>
                      </a:pPr>
                      <a:r>
                        <a:rPr lang="en-US" sz="1300" dirty="0">
                          <a:solidFill>
                            <a:srgbClr val="222222"/>
                          </a:solidFill>
                          <a:latin typeface="Arial" pitchFamily="34" charset="0"/>
                          <a:ea typeface="Arial" pitchFamily="34" charset="-122"/>
                          <a:cs typeface="Arial" pitchFamily="34" charset="-120"/>
                        </a:rPr>
                        <a:t>Period</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15875" cap="flat" cmpd="sng" algn="ctr">
                      <a:solidFill>
                        <a:srgbClr val="222222"/>
                      </a:solidFill>
                      <a:prstDash val="solid"/>
                      <a:round/>
                      <a:headEnd type="none" w="med" len="med"/>
                      <a:tailEnd type="none" w="med" len="med"/>
                    </a:lnB>
                  </a:tcPr>
                </a:tc>
                <a:tc>
                  <a:txBody>
                    <a:bodyPr/>
                    <a:lstStyle/>
                    <a:p>
                      <a:pPr algn="r" indent="0" marL="0">
                        <a:buNone/>
                      </a:pPr>
                      <a:r>
                        <a:rPr lang="en-US" sz="1300" dirty="0">
                          <a:solidFill>
                            <a:srgbClr val="222222"/>
                          </a:solidFill>
                          <a:latin typeface="Arial" pitchFamily="34" charset="0"/>
                          <a:ea typeface="Arial" pitchFamily="34" charset="-122"/>
                          <a:cs typeface="Arial" pitchFamily="34" charset="-120"/>
                        </a:rPr>
                        <a:t>1999 – Sep 2021</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15875" cap="flat" cmpd="sng" algn="ctr">
                      <a:solidFill>
                        <a:srgbClr val="222222"/>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594360"/>
          </a:xfrm>
          <a:prstGeom prst="rect">
            <a:avLst/>
          </a:prstGeom>
          <a:noFill/>
          <a:ln/>
        </p:spPr>
        <p:txBody>
          <a:bodyPr wrap="square" lIns="0" tIns="0" rIns="0" bIns="0" rtlCol="0" anchor="ctr"/>
          <a:lstStyle/>
          <a:p>
            <a:pPr algn="l" indent="0" marL="0">
              <a:buNone/>
            </a:pPr>
            <a:r>
              <a:rPr lang="en-US" sz="2600" dirty="0">
                <a:solidFill>
                  <a:schemeClr val="tx1"/>
                </a:solidFill>
              </a:rPr>
              <a:t>The data: types of attributes</a:t>
            </a:r>
            <a:endParaRPr lang="en-US" sz="2600" dirty="0"/>
          </a:p>
        </p:txBody>
      </p:sp>
      <p:graphicFrame>
        <p:nvGraphicFramePr>
          <p:cNvPr id="4" name="attribute table"/>
          <p:cNvGraphicFramePr>
            <a:graphicFrameLocks noGrp="1"/>
          </p:cNvGraphicFramePr>
          <p:nvPr>
            <p:extLst>
              <p:ext uri="{D42A27DB-BD31-4B8C-83A1-F6EECF244321}">
                <p14:modId xmlns:p14="http://schemas.microsoft.com/office/powerpoint/2010/main" val="1579011935"/>
              </p:ext>
            </p:extLst>
          </p:nvPr>
        </p:nvGraphicFramePr>
        <p:xfrm>
          <a:off x="548640" y="1143000"/>
          <a:ext cx="8046720" cy="914400"/>
        </p:xfrm>
        <a:graphic>
          <a:graphicData uri="http://schemas.openxmlformats.org/drawingml/2006/table">
            <a:tbl>
              <a:tblPr/>
              <a:tblGrid>
                <a:gridCol w="2377440"/>
                <a:gridCol w="2651760"/>
                <a:gridCol w="3017520"/>
              </a:tblGrid>
              <a:tr h="356616">
                <a:tc>
                  <a:txBody>
                    <a:bodyPr/>
                    <a:lstStyle/>
                    <a:p>
                      <a:pPr algn="l" indent="0" marL="0">
                        <a:buNone/>
                      </a:pPr>
                      <a:r>
                        <a:rPr lang="en-US" sz="1300" b="1" dirty="0">
                          <a:solidFill>
                            <a:srgbClr val="222222"/>
                          </a:solidFill>
                          <a:latin typeface="Arial" pitchFamily="34" charset="0"/>
                          <a:ea typeface="Arial" pitchFamily="34" charset="-122"/>
                          <a:cs typeface="Arial" pitchFamily="34" charset="-120"/>
                        </a:rPr>
                        <a:t>Attribute</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1587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tcPr>
                </a:tc>
                <a:tc>
                  <a:txBody>
                    <a:bodyPr/>
                    <a:lstStyle/>
                    <a:p>
                      <a:pPr algn="l" indent="0" marL="0">
                        <a:buNone/>
                      </a:pPr>
                      <a:r>
                        <a:rPr lang="en-US" sz="1300" b="1" dirty="0">
                          <a:solidFill>
                            <a:srgbClr val="222222"/>
                          </a:solidFill>
                          <a:latin typeface="Arial" pitchFamily="34" charset="0"/>
                          <a:ea typeface="Arial" pitchFamily="34" charset="-122"/>
                          <a:cs typeface="Arial" pitchFamily="34" charset="-120"/>
                        </a:rPr>
                        <a:t>Type</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1587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tcPr>
                </a:tc>
                <a:tc>
                  <a:txBody>
                    <a:bodyPr/>
                    <a:lstStyle/>
                    <a:p>
                      <a:pPr algn="l" indent="0" marL="0">
                        <a:buNone/>
                      </a:pPr>
                      <a:r>
                        <a:rPr lang="en-US" sz="1300" b="1" dirty="0">
                          <a:solidFill>
                            <a:srgbClr val="222222"/>
                          </a:solidFill>
                          <a:latin typeface="Arial" pitchFamily="34" charset="0"/>
                          <a:ea typeface="Arial" pitchFamily="34" charset="-122"/>
                          <a:cs typeface="Arial" pitchFamily="34" charset="-120"/>
                        </a:rPr>
                        <a:t>In the released data</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1587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tcPr>
                </a:tc>
              </a:tr>
              <a:tr h="356616">
                <a:tc>
                  <a:txBody>
                    <a:bodyPr/>
                    <a:lstStyle/>
                    <a:p>
                      <a:pPr algn="l" indent="0" marL="0">
                        <a:buNone/>
                      </a:pPr>
                      <a:r>
                        <a:rPr lang="en-US" sz="1300" dirty="0">
                          <a:solidFill>
                            <a:srgbClr val="222222"/>
                          </a:solidFill>
                          <a:latin typeface="Arial" pitchFamily="34" charset="0"/>
                          <a:ea typeface="Arial" pitchFamily="34" charset="-122"/>
                          <a:cs typeface="Arial" pitchFamily="34" charset="-120"/>
                        </a:rPr>
                        <a:t>name</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c>
                  <a:txBody>
                    <a:bodyPr/>
                    <a:lstStyle/>
                    <a:p>
                      <a:pPr algn="l" indent="0" marL="0">
                        <a:buNone/>
                      </a:pPr>
                      <a:r>
                        <a:rPr lang="en-US" sz="1300" dirty="0">
                          <a:solidFill>
                            <a:srgbClr val="9B0014"/>
                          </a:solidFill>
                          <a:latin typeface="Arial" pitchFamily="34" charset="0"/>
                          <a:ea typeface="Arial" pitchFamily="34" charset="-122"/>
                          <a:cs typeface="Arial" pitchFamily="34" charset="-120"/>
                        </a:rPr>
                        <a:t>identifier</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c>
                  <a:txBody>
                    <a:bodyPr/>
                    <a:lstStyle/>
                    <a:p>
                      <a:pPr algn="l" indent="0" marL="0">
                        <a:buNone/>
                      </a:pPr>
                      <a:r>
                        <a:rPr lang="en-US" sz="1300" dirty="0">
                          <a:solidFill>
                            <a:srgbClr val="222222"/>
                          </a:solidFill>
                          <a:latin typeface="Arial" pitchFamily="34" charset="0"/>
                          <a:ea typeface="Arial" pitchFamily="34" charset="-122"/>
                          <a:cs typeface="Arial" pitchFamily="34" charset="-120"/>
                        </a:rPr>
                        <a:t>removed</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r>
              <a:tr h="356616">
                <a:tc>
                  <a:txBody>
                    <a:bodyPr/>
                    <a:lstStyle/>
                    <a:p>
                      <a:pPr algn="l" indent="0" marL="0">
                        <a:buNone/>
                      </a:pPr>
                      <a:r>
                        <a:rPr lang="en-US" sz="1300" dirty="0">
                          <a:solidFill>
                            <a:srgbClr val="222222"/>
                          </a:solidFill>
                          <a:latin typeface="Arial" pitchFamily="34" charset="0"/>
                          <a:ea typeface="Arial" pitchFamily="34" charset="-122"/>
                          <a:cs typeface="Arial" pitchFamily="34" charset="-120"/>
                        </a:rPr>
                        <a:t>user_id</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c>
                  <a:txBody>
                    <a:bodyPr/>
                    <a:lstStyle/>
                    <a:p>
                      <a:pPr algn="l" indent="0" marL="0">
                        <a:buNone/>
                      </a:pPr>
                      <a:r>
                        <a:rPr lang="en-US" sz="1300" dirty="0">
                          <a:solidFill>
                            <a:srgbClr val="9B0014"/>
                          </a:solidFill>
                          <a:latin typeface="Arial" pitchFamily="34" charset="0"/>
                          <a:ea typeface="Arial" pitchFamily="34" charset="-122"/>
                          <a:cs typeface="Arial" pitchFamily="34" charset="-120"/>
                        </a:rPr>
                        <a:t>identifier</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c>
                  <a:txBody>
                    <a:bodyPr/>
                    <a:lstStyle/>
                    <a:p>
                      <a:pPr algn="l" indent="0" marL="0">
                        <a:buNone/>
                      </a:pPr>
                      <a:r>
                        <a:rPr lang="en-US" sz="1300" dirty="0">
                          <a:solidFill>
                            <a:srgbClr val="222222"/>
                          </a:solidFill>
                          <a:latin typeface="Arial" pitchFamily="34" charset="0"/>
                          <a:ea typeface="Arial" pitchFamily="34" charset="-122"/>
                          <a:cs typeface="Arial" pitchFamily="34" charset="-120"/>
                        </a:rPr>
                        <a:t>removed</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r>
              <a:tr h="356616">
                <a:tc>
                  <a:txBody>
                    <a:bodyPr/>
                    <a:lstStyle/>
                    <a:p>
                      <a:pPr algn="l" indent="0" marL="0">
                        <a:buNone/>
                      </a:pPr>
                      <a:r>
                        <a:rPr lang="en-US" sz="1300" dirty="0">
                          <a:solidFill>
                            <a:srgbClr val="222222"/>
                          </a:solidFill>
                          <a:latin typeface="Arial" pitchFamily="34" charset="0"/>
                          <a:ea typeface="Arial" pitchFamily="34" charset="-122"/>
                          <a:cs typeface="Arial" pitchFamily="34" charset="-120"/>
                        </a:rPr>
                        <a:t>time of review</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c>
                  <a:txBody>
                    <a:bodyPr/>
                    <a:lstStyle/>
                    <a:p>
                      <a:pPr algn="l" indent="0" marL="0">
                        <a:buNone/>
                      </a:pPr>
                      <a:r>
                        <a:rPr lang="en-US" sz="1300" dirty="0">
                          <a:solidFill>
                            <a:srgbClr val="222222"/>
                          </a:solidFill>
                          <a:latin typeface="Arial" pitchFamily="34" charset="0"/>
                          <a:ea typeface="Arial" pitchFamily="34" charset="-122"/>
                          <a:cs typeface="Arial" pitchFamily="34" charset="-120"/>
                        </a:rPr>
                        <a:t>quasi-identifier</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c>
                  <a:txBody>
                    <a:bodyPr/>
                    <a:lstStyle/>
                    <a:p>
                      <a:pPr algn="l" indent="0" marL="0">
                        <a:buNone/>
                      </a:pPr>
                      <a:r>
                        <a:rPr lang="en-US" sz="1300" dirty="0">
                          <a:solidFill>
                            <a:srgbClr val="222222"/>
                          </a:solidFill>
                          <a:latin typeface="Arial" pitchFamily="34" charset="0"/>
                          <a:ea typeface="Arial" pitchFamily="34" charset="-122"/>
                          <a:cs typeface="Arial" pitchFamily="34" charset="-120"/>
                        </a:rPr>
                        <a:t>month only (YYYY-MM)</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r>
              <a:tr h="356616">
                <a:tc>
                  <a:txBody>
                    <a:bodyPr/>
                    <a:lstStyle/>
                    <a:p>
                      <a:pPr algn="l" indent="0" marL="0">
                        <a:buNone/>
                      </a:pPr>
                      <a:r>
                        <a:rPr lang="en-US" sz="1300" dirty="0">
                          <a:solidFill>
                            <a:srgbClr val="222222"/>
                          </a:solidFill>
                          <a:latin typeface="Arial" pitchFamily="34" charset="0"/>
                          <a:ea typeface="Arial" pitchFamily="34" charset="-122"/>
                          <a:cs typeface="Arial" pitchFamily="34" charset="-120"/>
                        </a:rPr>
                        <a:t>gmap_id (place)</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c>
                  <a:txBody>
                    <a:bodyPr/>
                    <a:lstStyle/>
                    <a:p>
                      <a:pPr algn="l" indent="0" marL="0">
                        <a:buNone/>
                      </a:pPr>
                      <a:r>
                        <a:rPr lang="en-US" sz="1300" dirty="0">
                          <a:solidFill>
                            <a:srgbClr val="222222"/>
                          </a:solidFill>
                          <a:latin typeface="Arial" pitchFamily="34" charset="0"/>
                          <a:ea typeface="Arial" pitchFamily="34" charset="-122"/>
                          <a:cs typeface="Arial" pitchFamily="34" charset="-120"/>
                        </a:rPr>
                        <a:t>quasi-identifier</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c>
                  <a:txBody>
                    <a:bodyPr/>
                    <a:lstStyle/>
                    <a:p>
                      <a:pPr algn="l" indent="0" marL="0">
                        <a:buNone/>
                      </a:pPr>
                      <a:r>
                        <a:rPr lang="en-US" sz="1300" dirty="0">
                          <a:solidFill>
                            <a:srgbClr val="222222"/>
                          </a:solidFill>
                          <a:latin typeface="Arial" pitchFamily="34" charset="0"/>
                          <a:ea typeface="Arial" pitchFamily="34" charset="-122"/>
                          <a:cs typeface="Arial" pitchFamily="34" charset="-120"/>
                        </a:rPr>
                        <a:t>categories, k = 5</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r>
              <a:tr h="356616">
                <a:tc>
                  <a:txBody>
                    <a:bodyPr/>
                    <a:lstStyle/>
                    <a:p>
                      <a:pPr algn="l" indent="0" marL="0">
                        <a:buNone/>
                      </a:pPr>
                      <a:r>
                        <a:rPr lang="en-US" sz="1300" dirty="0">
                          <a:solidFill>
                            <a:srgbClr val="222222"/>
                          </a:solidFill>
                          <a:latin typeface="Arial" pitchFamily="34" charset="0"/>
                          <a:ea typeface="Arial" pitchFamily="34" charset="-122"/>
                          <a:cs typeface="Arial" pitchFamily="34" charset="-120"/>
                        </a:rPr>
                        <a:t>rating</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c>
                  <a:txBody>
                    <a:bodyPr/>
                    <a:lstStyle/>
                    <a:p>
                      <a:pPr algn="l" indent="0" marL="0">
                        <a:buNone/>
                      </a:pPr>
                      <a:r>
                        <a:rPr lang="en-US" sz="1300" dirty="0">
                          <a:solidFill>
                            <a:srgbClr val="222222"/>
                          </a:solidFill>
                          <a:latin typeface="Arial" pitchFamily="34" charset="0"/>
                          <a:ea typeface="Arial" pitchFamily="34" charset="-122"/>
                          <a:cs typeface="Arial" pitchFamily="34" charset="-120"/>
                        </a:rPr>
                        <a:t>quasi-identifier</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c>
                  <a:txBody>
                    <a:bodyPr/>
                    <a:lstStyle/>
                    <a:p>
                      <a:pPr algn="l" indent="0" marL="0">
                        <a:buNone/>
                      </a:pPr>
                      <a:r>
                        <a:rPr lang="en-US" sz="1300" dirty="0">
                          <a:solidFill>
                            <a:srgbClr val="222222"/>
                          </a:solidFill>
                          <a:latin typeface="Arial" pitchFamily="34" charset="0"/>
                          <a:ea typeface="Arial" pitchFamily="34" charset="-122"/>
                          <a:cs typeface="Arial" pitchFamily="34" charset="-120"/>
                        </a:rPr>
                        <a:t>kept</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r>
              <a:tr h="356616">
                <a:tc>
                  <a:txBody>
                    <a:bodyPr/>
                    <a:lstStyle/>
                    <a:p>
                      <a:pPr algn="l" indent="0" marL="0">
                        <a:buNone/>
                      </a:pPr>
                      <a:r>
                        <a:rPr lang="en-US" sz="1300" dirty="0">
                          <a:solidFill>
                            <a:srgbClr val="222222"/>
                          </a:solidFill>
                          <a:latin typeface="Arial" pitchFamily="34" charset="0"/>
                          <a:ea typeface="Arial" pitchFamily="34" charset="-122"/>
                          <a:cs typeface="Arial" pitchFamily="34" charset="-120"/>
                        </a:rPr>
                        <a:t>spent</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c>
                  <a:txBody>
                    <a:bodyPr/>
                    <a:lstStyle/>
                    <a:p>
                      <a:pPr algn="l" indent="0" marL="0">
                        <a:buNone/>
                      </a:pPr>
                      <a:r>
                        <a:rPr lang="en-US" sz="1300" dirty="0">
                          <a:solidFill>
                            <a:srgbClr val="222222"/>
                          </a:solidFill>
                          <a:latin typeface="Arial" pitchFamily="34" charset="0"/>
                          <a:ea typeface="Arial" pitchFamily="34" charset="-122"/>
                          <a:cs typeface="Arial" pitchFamily="34" charset="-120"/>
                        </a:rPr>
                        <a:t>quasi-identifier / sensitive</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c>
                  <a:txBody>
                    <a:bodyPr/>
                    <a:lstStyle/>
                    <a:p>
                      <a:pPr algn="l" indent="0" marL="0">
                        <a:buNone/>
                      </a:pPr>
                      <a:r>
                        <a:rPr lang="en-US" sz="1300" dirty="0">
                          <a:solidFill>
                            <a:srgbClr val="222222"/>
                          </a:solidFill>
                          <a:latin typeface="Arial" pitchFamily="34" charset="0"/>
                          <a:ea typeface="Arial" pitchFamily="34" charset="-122"/>
                          <a:cs typeface="Arial" pitchFamily="34" charset="-120"/>
                        </a:rPr>
                        <a:t>7 values ($0 – $500)</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r>
              <a:tr h="356616">
                <a:tc>
                  <a:txBody>
                    <a:bodyPr/>
                    <a:lstStyle/>
                    <a:p>
                      <a:pPr algn="l" indent="0" marL="0">
                        <a:buNone/>
                      </a:pPr>
                      <a:r>
                        <a:rPr lang="en-US" sz="1300" dirty="0">
                          <a:solidFill>
                            <a:srgbClr val="222222"/>
                          </a:solidFill>
                          <a:latin typeface="Arial" pitchFamily="34" charset="0"/>
                          <a:ea typeface="Arial" pitchFamily="34" charset="-122"/>
                          <a:cs typeface="Arial" pitchFamily="34" charset="-120"/>
                        </a:rPr>
                        <a:t>review text, owner reply</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c>
                  <a:txBody>
                    <a:bodyPr/>
                    <a:lstStyle/>
                    <a:p>
                      <a:pPr algn="l" indent="0" marL="0">
                        <a:buNone/>
                      </a:pPr>
                      <a:r>
                        <a:rPr lang="en-US" sz="1300" dirty="0">
                          <a:solidFill>
                            <a:srgbClr val="222222"/>
                          </a:solidFill>
                          <a:latin typeface="Arial" pitchFamily="34" charset="0"/>
                          <a:ea typeface="Arial" pitchFamily="34" charset="-122"/>
                          <a:cs typeface="Arial" pitchFamily="34" charset="-120"/>
                        </a:rPr>
                        <a:t>sensitive</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c>
                  <a:txBody>
                    <a:bodyPr/>
                    <a:lstStyle/>
                    <a:p>
                      <a:pPr algn="l" indent="0" marL="0">
                        <a:buNone/>
                      </a:pPr>
                      <a:r>
                        <a:rPr lang="en-US" sz="1300" dirty="0">
                          <a:solidFill>
                            <a:srgbClr val="222222"/>
                          </a:solidFill>
                          <a:latin typeface="Arial" pitchFamily="34" charset="0"/>
                          <a:ea typeface="Arial" pitchFamily="34" charset="-122"/>
                          <a:cs typeface="Arial" pitchFamily="34" charset="-120"/>
                        </a:rPr>
                        <a:t>length class only</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r>
              <a:tr h="356616">
                <a:tc>
                  <a:txBody>
                    <a:bodyPr/>
                    <a:lstStyle/>
                    <a:p>
                      <a:pPr algn="l" indent="0" marL="0">
                        <a:buNone/>
                      </a:pPr>
                      <a:r>
                        <a:rPr lang="en-US" sz="1300" dirty="0">
                          <a:solidFill>
                            <a:srgbClr val="222222"/>
                          </a:solidFill>
                          <a:latin typeface="Arial" pitchFamily="34" charset="0"/>
                          <a:ea typeface="Arial" pitchFamily="34" charset="-122"/>
                          <a:cs typeface="Arial" pitchFamily="34" charset="-120"/>
                        </a:rPr>
                        <a:t>photos</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15875" cap="flat" cmpd="sng" algn="ctr">
                      <a:solidFill>
                        <a:srgbClr val="222222"/>
                      </a:solidFill>
                      <a:prstDash val="solid"/>
                      <a:round/>
                      <a:headEnd type="none" w="med" len="med"/>
                      <a:tailEnd type="none" w="med" len="med"/>
                    </a:lnB>
                  </a:tcPr>
                </a:tc>
                <a:tc>
                  <a:txBody>
                    <a:bodyPr/>
                    <a:lstStyle/>
                    <a:p>
                      <a:pPr algn="l" indent="0" marL="0">
                        <a:buNone/>
                      </a:pPr>
                      <a:r>
                        <a:rPr lang="en-US" sz="1300" dirty="0">
                          <a:solidFill>
                            <a:srgbClr val="222222"/>
                          </a:solidFill>
                          <a:latin typeface="Arial" pitchFamily="34" charset="0"/>
                          <a:ea typeface="Arial" pitchFamily="34" charset="-122"/>
                          <a:cs typeface="Arial" pitchFamily="34" charset="-120"/>
                        </a:rPr>
                        <a:t>sensitive</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15875" cap="flat" cmpd="sng" algn="ctr">
                      <a:solidFill>
                        <a:srgbClr val="222222"/>
                      </a:solidFill>
                      <a:prstDash val="solid"/>
                      <a:round/>
                      <a:headEnd type="none" w="med" len="med"/>
                      <a:tailEnd type="none" w="med" len="med"/>
                    </a:lnB>
                  </a:tcPr>
                </a:tc>
                <a:tc>
                  <a:txBody>
                    <a:bodyPr/>
                    <a:lstStyle/>
                    <a:p>
                      <a:pPr algn="l" indent="0" marL="0">
                        <a:buNone/>
                      </a:pPr>
                      <a:r>
                        <a:rPr lang="en-US" sz="1300" dirty="0">
                          <a:solidFill>
                            <a:srgbClr val="222222"/>
                          </a:solidFill>
                          <a:latin typeface="Arial" pitchFamily="34" charset="0"/>
                          <a:ea typeface="Arial" pitchFamily="34" charset="-122"/>
                          <a:cs typeface="Arial" pitchFamily="34" charset="-120"/>
                        </a:rPr>
                        <a:t>number of photos only</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15875" cap="flat" cmpd="sng" algn="ctr">
                      <a:solidFill>
                        <a:srgbClr val="222222"/>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594360"/>
          </a:xfrm>
          <a:prstGeom prst="rect">
            <a:avLst/>
          </a:prstGeom>
          <a:noFill/>
          <a:ln/>
        </p:spPr>
        <p:txBody>
          <a:bodyPr wrap="square" lIns="0" tIns="0" rIns="0" bIns="0" rtlCol="0" anchor="ctr"/>
          <a:lstStyle/>
          <a:p>
            <a:pPr algn="l" indent="0" marL="0">
              <a:buNone/>
            </a:pPr>
            <a:r>
              <a:rPr lang="en-US" sz="2600" dirty="0">
                <a:solidFill>
                  <a:schemeClr val="tx1"/>
                </a:solidFill>
              </a:rPr>
              <a:t>Why re-identification is easy here</a:t>
            </a:r>
            <a:endParaRPr lang="en-US" sz="2600" dirty="0"/>
          </a:p>
        </p:txBody>
      </p:sp>
      <p:sp>
        <p:nvSpPr>
          <p:cNvPr id="3" name="Text 1"/>
          <p:cNvSpPr txBox="1"/>
          <p:nvPr/>
        </p:nvSpPr>
        <p:spPr>
          <a:xfrm>
            <a:off x="548640" y="1188720"/>
            <a:ext cx="3291840" cy="3017520"/>
          </a:xfrm>
          <a:prstGeom prst="rect">
            <a:avLst/>
          </a:prstGeom>
          <a:noFill/>
          <a:ln/>
        </p:spPr>
        <p:txBody>
          <a:bodyPr wrap="square" lIns="0" tIns="0" rIns="0" bIns="0" rtlCol="0" anchor="t"/>
          <a:lstStyle/>
          <a:p>
            <a:pPr marL="342900" indent="-342900">
              <a:spcAft>
                <a:spcPts val="1000"/>
              </a:spcAft>
              <a:buSzPct val="100000"/>
              <a:buChar char="•"/>
            </a:pPr>
            <a:r>
              <a:rPr lang="en-US" sz="1500" b="1" dirty="0">
                <a:solidFill>
                  <a:schemeClr val="tx1"/>
                </a:solidFill>
              </a:rPr>
              <a:t>64%</a:t>
            </a:r>
            <a:r>
              <a:rPr lang="en-US" sz="1500" dirty="0">
                <a:solidFill>
                  <a:schemeClr val="tx1"/>
                </a:solidFill>
              </a:rPr>
              <a:t> of users wrote only one review</a:t>
            </a:r>
            <a:endParaRPr lang="en-US" sz="1500" dirty="0"/>
          </a:p>
          <a:p>
            <a:pPr marL="342900" indent="-342900">
              <a:spcAft>
                <a:spcPts val="1000"/>
              </a:spcAft>
              <a:buSzPct val="100000"/>
              <a:buChar char="•"/>
            </a:pPr>
            <a:r>
              <a:rPr lang="en-US" sz="1500" dirty="0">
                <a:solidFill>
                  <a:schemeClr val="tx1"/>
                </a:solidFill>
              </a:rPr>
              <a:t>More than a third of places have </a:t>
            </a:r>
            <a:r>
              <a:rPr lang="en-US" sz="1500" b="1" dirty="0">
                <a:solidFill>
                  <a:schemeClr val="tx1"/>
                </a:solidFill>
              </a:rPr>
              <a:t>fewer than 10</a:t>
            </a:r>
            <a:r>
              <a:rPr lang="en-US" sz="1500" dirty="0">
                <a:solidFill>
                  <a:schemeClr val="tx1"/>
                </a:solidFill>
              </a:rPr>
              <a:t> reviews</a:t>
            </a:r>
            <a:endParaRPr lang="en-US" sz="1500" dirty="0"/>
          </a:p>
          <a:p>
            <a:pPr marL="342900" indent="-342900">
              <a:spcAft>
                <a:spcPts val="1000"/>
              </a:spcAft>
              <a:buSzPct val="100000"/>
              <a:buChar char="•"/>
            </a:pPr>
            <a:r>
              <a:rPr lang="en-US" sz="1500" dirty="0">
                <a:solidFill>
                  <a:schemeClr val="tx1"/>
                </a:solidFill>
              </a:rPr>
              <a:t>No two reviews share the same timestamp</a:t>
            </a:r>
            <a:endParaRPr lang="en-US" sz="1500" dirty="0"/>
          </a:p>
          <a:p>
            <a:pPr marL="342900" indent="-342900">
              <a:spcAft>
                <a:spcPts val="1000"/>
              </a:spcAft>
              <a:buSzPct val="100000"/>
              <a:buChar char="•"/>
            </a:pPr>
            <a:r>
              <a:rPr lang="en-US" sz="1500" dirty="0">
                <a:solidFill>
                  <a:schemeClr val="tx1"/>
                </a:solidFill>
              </a:rPr>
              <a:t>Health places (~2% of reviews) and churches reveal sensitive facts</a:t>
            </a:r>
            <a:endParaRPr lang="en-US" sz="1500" dirty="0"/>
          </a:p>
        </p:txBody>
      </p:sp>
      <p:pic>
        <p:nvPicPr>
          <p:cNvPr id="4" name="reviews per user figure" descr="/mnt/user-data/uploads/PPIA_HW1/figures/03_reviews_per_user.png">    </p:cNvPr>
          <p:cNvPicPr>
            <a:picLocks noChangeAspect="1"/>
          </p:cNvPicPr>
          <p:nvPr/>
        </p:nvPicPr>
        <p:blipFill>
          <a:blip r:embed="rId1"/>
          <a:stretch>
            <a:fillRect/>
          </a:stretch>
        </p:blipFill>
        <p:spPr>
          <a:xfrm>
            <a:off x="4114800" y="1097280"/>
            <a:ext cx="4480560" cy="2688336"/>
          </a:xfrm>
          <a:prstGeom prst="rect">
            <a:avLst/>
          </a:prstGeom>
        </p:spPr>
      </p:pic>
      <p:sp>
        <p:nvSpPr>
          <p:cNvPr id="5" name="Text 2"/>
          <p:cNvSpPr txBox="1"/>
          <p:nvPr/>
        </p:nvSpPr>
        <p:spPr>
          <a:xfrm>
            <a:off x="4114800" y="3840480"/>
            <a:ext cx="4480560" cy="228600"/>
          </a:xfrm>
          <a:prstGeom prst="rect">
            <a:avLst/>
          </a:prstGeom>
          <a:noFill/>
          <a:ln/>
        </p:spPr>
        <p:txBody>
          <a:bodyPr wrap="square" lIns="0" tIns="0" rIns="0" bIns="0" rtlCol="0" anchor="t"/>
          <a:lstStyle/>
          <a:p>
            <a:pPr indent="0" marL="0">
              <a:buNone/>
            </a:pPr>
            <a:r>
              <a:rPr lang="en-US" sz="1000" i="1" dirty="0">
                <a:solidFill>
                  <a:schemeClr val="tx2"/>
                </a:solidFill>
              </a:rPr>
              <a:t>Reviews written per user, Vermont</a:t>
            </a:r>
            <a:endParaRPr lang="en-US" sz="10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594360"/>
          </a:xfrm>
          <a:prstGeom prst="rect">
            <a:avLst/>
          </a:prstGeom>
          <a:noFill/>
          <a:ln/>
        </p:spPr>
        <p:txBody>
          <a:bodyPr wrap="square" lIns="0" tIns="0" rIns="0" bIns="0" rtlCol="0" anchor="ctr"/>
          <a:lstStyle/>
          <a:p>
            <a:pPr algn="l" indent="0" marL="0">
              <a:buNone/>
            </a:pPr>
            <a:r>
              <a:rPr lang="en-US" sz="2600" dirty="0">
                <a:solidFill>
                  <a:schemeClr val="tx1"/>
                </a:solidFill>
              </a:rPr>
              <a:t>Adversaries</a:t>
            </a:r>
            <a:endParaRPr lang="en-US" sz="2600" dirty="0"/>
          </a:p>
        </p:txBody>
      </p:sp>
      <p:sp>
        <p:nvSpPr>
          <p:cNvPr id="3" name="Text 1"/>
          <p:cNvSpPr txBox="1"/>
          <p:nvPr/>
        </p:nvSpPr>
        <p:spPr>
          <a:xfrm>
            <a:off x="548640" y="1143000"/>
            <a:ext cx="3291840" cy="320040"/>
          </a:xfrm>
          <a:prstGeom prst="rect">
            <a:avLst/>
          </a:prstGeom>
          <a:noFill/>
          <a:ln/>
        </p:spPr>
        <p:txBody>
          <a:bodyPr wrap="square" lIns="0" tIns="0" rIns="0" bIns="0" rtlCol="0" anchor="t"/>
          <a:lstStyle/>
          <a:p>
            <a:pPr indent="0" marL="0">
              <a:buNone/>
            </a:pPr>
            <a:r>
              <a:rPr lang="en-US" sz="1600" b="1" dirty="0">
                <a:solidFill>
                  <a:schemeClr val="accent1"/>
                </a:solidFill>
              </a:rPr>
              <a:t>Who can access the data</a:t>
            </a:r>
            <a:endParaRPr lang="en-US" sz="1600" dirty="0"/>
          </a:p>
        </p:txBody>
      </p:sp>
      <p:sp>
        <p:nvSpPr>
          <p:cNvPr id="4" name="Text 2"/>
          <p:cNvSpPr txBox="1"/>
          <p:nvPr/>
        </p:nvSpPr>
        <p:spPr>
          <a:xfrm>
            <a:off x="548640" y="1554480"/>
            <a:ext cx="3291840" cy="237744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chemeClr val="tx1"/>
                </a:solidFill>
              </a:rPr>
              <a:t>Anyone who downloads the release</a:t>
            </a:r>
            <a:endParaRPr lang="en-US" sz="1500" dirty="0"/>
          </a:p>
          <a:p>
            <a:pPr marL="342900" indent="-342900">
              <a:spcAft>
                <a:spcPts val="900"/>
              </a:spcAft>
              <a:buSzPct val="100000"/>
              <a:buChar char="•"/>
            </a:pPr>
            <a:r>
              <a:rPr lang="en-US" sz="1500" dirty="0">
                <a:solidFill>
                  <a:schemeClr val="tx1"/>
                </a:solidFill>
              </a:rPr>
              <a:t>Data brokers and profilers</a:t>
            </a:r>
            <a:endParaRPr lang="en-US" sz="1500" dirty="0"/>
          </a:p>
          <a:p>
            <a:pPr marL="342900" indent="-342900">
              <a:spcAft>
                <a:spcPts val="900"/>
              </a:spcAft>
              <a:buSzPct val="100000"/>
              <a:buChar char="•"/>
            </a:pPr>
            <a:r>
              <a:rPr lang="en-US" sz="1500" dirty="0">
                <a:solidFill>
                  <a:schemeClr val="tx1"/>
                </a:solidFill>
              </a:rPr>
              <a:t>Advertisers, insurers, employers</a:t>
            </a:r>
            <a:endParaRPr lang="en-US" sz="1500" dirty="0"/>
          </a:p>
          <a:p>
            <a:pPr marL="342900" indent="-342900">
              <a:spcAft>
                <a:spcPts val="900"/>
              </a:spcAft>
              <a:buSzPct val="100000"/>
              <a:buChar char="•"/>
            </a:pPr>
            <a:r>
              <a:rPr lang="en-US" sz="1500" dirty="0">
                <a:solidFill>
                  <a:schemeClr val="tx1"/>
                </a:solidFill>
              </a:rPr>
              <a:t>Someone who knows the victim</a:t>
            </a:r>
            <a:endParaRPr lang="en-US" sz="1500" dirty="0"/>
          </a:p>
        </p:txBody>
      </p:sp>
      <p:sp>
        <p:nvSpPr>
          <p:cNvPr id="5" name="Text 3"/>
          <p:cNvSpPr txBox="1"/>
          <p:nvPr/>
        </p:nvSpPr>
        <p:spPr>
          <a:xfrm>
            <a:off x="4389120" y="1143000"/>
            <a:ext cx="4206240" cy="320040"/>
          </a:xfrm>
          <a:prstGeom prst="rect">
            <a:avLst/>
          </a:prstGeom>
          <a:noFill/>
          <a:ln/>
        </p:spPr>
        <p:txBody>
          <a:bodyPr wrap="square" lIns="0" tIns="0" rIns="0" bIns="0" rtlCol="0" anchor="t"/>
          <a:lstStyle/>
          <a:p>
            <a:pPr indent="0" marL="0">
              <a:buNone/>
            </a:pPr>
            <a:r>
              <a:rPr lang="en-US" sz="1600" b="1" dirty="0">
                <a:solidFill>
                  <a:schemeClr val="accent1"/>
                </a:solidFill>
              </a:rPr>
              <a:t>How: record linkage</a:t>
            </a:r>
            <a:endParaRPr lang="en-US" sz="1600" dirty="0"/>
          </a:p>
        </p:txBody>
      </p:sp>
      <p:sp>
        <p:nvSpPr>
          <p:cNvPr id="6" name="Text 4"/>
          <p:cNvSpPr txBox="1"/>
          <p:nvPr/>
        </p:nvSpPr>
        <p:spPr>
          <a:xfrm>
            <a:off x="4389120" y="1554480"/>
            <a:ext cx="4206240" cy="2651760"/>
          </a:xfrm>
          <a:prstGeom prst="rect">
            <a:avLst/>
          </a:prstGeom>
          <a:noFill/>
          <a:ln/>
        </p:spPr>
        <p:txBody>
          <a:bodyPr wrap="square" lIns="0" tIns="0" rIns="0" bIns="0" rtlCol="0" anchor="t"/>
          <a:lstStyle/>
          <a:p>
            <a:pPr marL="342900" indent="-342900">
              <a:spcAft>
                <a:spcPts val="900"/>
              </a:spcAft>
              <a:buSzPct val="100000"/>
              <a:buChar char="•"/>
            </a:pPr>
            <a:r>
              <a:rPr lang="en-US" sz="1500" b="1" dirty="0">
                <a:solidFill>
                  <a:schemeClr val="tx1"/>
                </a:solidFill>
              </a:rPr>
              <a:t>user_id</a:t>
            </a:r>
            <a:r>
              <a:rPr lang="en-US" sz="1500" dirty="0">
                <a:solidFill>
                  <a:schemeClr val="tx1"/>
                </a:solidFill>
              </a:rPr>
              <a:t> → public profile, reviews in other states</a:t>
            </a:r>
            <a:endParaRPr lang="en-US" sz="1500" dirty="0"/>
          </a:p>
          <a:p>
            <a:pPr marL="342900" indent="-342900">
              <a:spcAft>
                <a:spcPts val="900"/>
              </a:spcAft>
              <a:buSzPct val="100000"/>
              <a:buChar char="•"/>
            </a:pPr>
            <a:r>
              <a:rPr lang="en-US" sz="1500" b="1" dirty="0">
                <a:solidFill>
                  <a:schemeClr val="tx1"/>
                </a:solidFill>
              </a:rPr>
              <a:t>name + town + month</a:t>
            </a:r>
            <a:r>
              <a:rPr lang="en-US" sz="1500" dirty="0">
                <a:solidFill>
                  <a:schemeClr val="tx1"/>
                </a:solidFill>
              </a:rPr>
              <a:t> → social networks, public registers</a:t>
            </a:r>
            <a:endParaRPr lang="en-US" sz="1500" dirty="0"/>
          </a:p>
          <a:p>
            <a:pPr marL="342900" indent="-342900">
              <a:spcAft>
                <a:spcPts val="900"/>
              </a:spcAft>
              <a:buSzPct val="100000"/>
              <a:buChar char="•"/>
            </a:pPr>
            <a:r>
              <a:rPr lang="en-US" sz="1500" b="1" dirty="0">
                <a:solidFill>
                  <a:schemeClr val="tx1"/>
                </a:solidFill>
              </a:rPr>
              <a:t>hotel / home address</a:t>
            </a:r>
            <a:r>
              <a:rPr lang="en-US" sz="1500" dirty="0">
                <a:solidFill>
                  <a:schemeClr val="tx1"/>
                </a:solidFill>
              </a:rPr>
              <a:t> → rental and property records</a:t>
            </a:r>
            <a:endParaRPr lang="en-US" sz="1500" dirty="0"/>
          </a:p>
          <a:p>
            <a:pPr marL="342900" indent="-342900">
              <a:spcAft>
                <a:spcPts val="900"/>
              </a:spcAft>
              <a:buSzPct val="100000"/>
              <a:buChar char="•"/>
            </a:pPr>
            <a:r>
              <a:rPr lang="en-US" sz="1500" dirty="0">
                <a:solidFill>
                  <a:schemeClr val="tx1"/>
                </a:solidFill>
              </a:rPr>
              <a:t>The attacker gets stronger over time, and a released copy cannot be erased</a:t>
            </a:r>
            <a:endParaRPr lang="en-US" sz="15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594360"/>
          </a:xfrm>
          <a:prstGeom prst="rect">
            <a:avLst/>
          </a:prstGeom>
          <a:noFill/>
          <a:ln/>
        </p:spPr>
        <p:txBody>
          <a:bodyPr wrap="square" lIns="0" tIns="0" rIns="0" bIns="0" rtlCol="0" anchor="ctr"/>
          <a:lstStyle/>
          <a:p>
            <a:pPr algn="l" indent="0" marL="0">
              <a:buNone/>
            </a:pPr>
            <a:r>
              <a:rPr lang="en-US" sz="2600" dirty="0">
                <a:solidFill>
                  <a:schemeClr val="tx1"/>
                </a:solidFill>
              </a:rPr>
              <a:t>Utility: do unhappy customers write more?</a:t>
            </a:r>
            <a:endParaRPr lang="en-US" sz="2600" dirty="0"/>
          </a:p>
        </p:txBody>
      </p:sp>
      <p:sp>
        <p:nvSpPr>
          <p:cNvPr id="3" name="Text 1"/>
          <p:cNvSpPr txBox="1"/>
          <p:nvPr/>
        </p:nvSpPr>
        <p:spPr>
          <a:xfrm>
            <a:off x="548640" y="1005840"/>
            <a:ext cx="8046720" cy="274320"/>
          </a:xfrm>
          <a:prstGeom prst="rect">
            <a:avLst/>
          </a:prstGeom>
          <a:noFill/>
          <a:ln/>
        </p:spPr>
        <p:txBody>
          <a:bodyPr wrap="square" lIns="0" tIns="0" rIns="0" bIns="0" rtlCol="0" anchor="t"/>
          <a:lstStyle/>
          <a:p>
            <a:pPr indent="0" marL="0">
              <a:buNone/>
            </a:pPr>
            <a:r>
              <a:rPr lang="en-US" sz="1400" dirty="0">
                <a:solidFill>
                  <a:schemeClr val="tx2"/>
                </a:solidFill>
              </a:rPr>
              <a:t>Share of negative reviews (1–2 stars) by review length</a:t>
            </a:r>
            <a:endParaRPr lang="en-US" sz="1400" dirty="0"/>
          </a:p>
        </p:txBody>
      </p:sp>
      <p:sp>
        <p:nvSpPr>
          <p:cNvPr id="4" name="Text 2"/>
          <p:cNvSpPr txBox="1"/>
          <p:nvPr/>
        </p:nvSpPr>
        <p:spPr>
          <a:xfrm>
            <a:off x="548640" y="1371600"/>
            <a:ext cx="4206240" cy="274320"/>
          </a:xfrm>
          <a:prstGeom prst="rect">
            <a:avLst/>
          </a:prstGeom>
          <a:noFill/>
          <a:ln/>
        </p:spPr>
        <p:txBody>
          <a:bodyPr wrap="square" lIns="0" tIns="0" rIns="0" bIns="0" rtlCol="0" anchor="t"/>
          <a:lstStyle/>
          <a:p>
            <a:pPr indent="0" marL="0">
              <a:buNone/>
            </a:pPr>
            <a:r>
              <a:rPr lang="en-US" sz="1300" b="1" dirty="0">
                <a:solidFill>
                  <a:schemeClr val="tx1"/>
                </a:solidFill>
              </a:rPr>
              <a:t>Original data</a:t>
            </a:r>
            <a:endParaRPr lang="en-US" sz="1300" dirty="0"/>
          </a:p>
        </p:txBody>
      </p:sp>
      <p:graphicFrame>
        <p:nvGraphicFramePr>
          <p:cNvPr id="7" name="utility original"/>
          <p:cNvGraphicFramePr>
            <a:graphicFrameLocks noGrp="1"/>
          </p:cNvGraphicFramePr>
          <p:nvPr>
            <p:extLst>
              <p:ext uri="{D42A27DB-BD31-4B8C-83A1-F6EECF244321}">
                <p14:modId xmlns:p14="http://schemas.microsoft.com/office/powerpoint/2010/main" val="1579011935"/>
              </p:ext>
            </p:extLst>
          </p:nvPr>
        </p:nvGraphicFramePr>
        <p:xfrm>
          <a:off x="548640" y="1691640"/>
          <a:ext cx="4206240" cy="914400"/>
        </p:xfrm>
        <a:graphic>
          <a:graphicData uri="http://schemas.openxmlformats.org/drawingml/2006/table">
            <a:tbl>
              <a:tblPr/>
              <a:tblGrid>
                <a:gridCol w="1828800"/>
                <a:gridCol w="1188720"/>
                <a:gridCol w="1188720"/>
              </a:tblGrid>
              <a:tr h="329184">
                <a:tc>
                  <a:txBody>
                    <a:bodyPr/>
                    <a:lstStyle/>
                    <a:p>
                      <a:pPr algn="l" indent="0" marL="0">
                        <a:buNone/>
                      </a:pPr>
                      <a:r>
                        <a:rPr lang="en-US" sz="1200" b="1" dirty="0">
                          <a:solidFill>
                            <a:srgbClr val="222222"/>
                          </a:solidFill>
                          <a:latin typeface="Arial" pitchFamily="34" charset="0"/>
                          <a:ea typeface="Arial" pitchFamily="34" charset="-122"/>
                          <a:cs typeface="Arial" pitchFamily="34" charset="-120"/>
                        </a:rPr>
                        <a:t>Length (characters)</a:t>
                      </a:r>
                      <a:endParaRPr lang="en-US" sz="1200" dirty="0">
                        <a:latin typeface="Arial" charset="0"/>
                        <a:ea typeface="Arial" charset="0"/>
                        <a:cs typeface="Arial" charset="0"/>
                      </a:endParaRPr>
                    </a:p>
                  </a:txBody>
                  <a:tcPr marL="73152" marR="73152" marT="27432" marB="27432" anchor="ctr">
                    <a:lnL w="0" cap="flat" cmpd="sng" algn="ctr">
                      <a:noFill/>
                    </a:lnL>
                    <a:lnR w="0" cap="flat" cmpd="sng" algn="ctr">
                      <a:noFill/>
                    </a:lnR>
                    <a:lnT w="1587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tcPr>
                </a:tc>
                <a:tc>
                  <a:txBody>
                    <a:bodyPr/>
                    <a:lstStyle/>
                    <a:p>
                      <a:pPr algn="r" indent="0" marL="0">
                        <a:buNone/>
                      </a:pPr>
                      <a:r>
                        <a:rPr lang="en-US" sz="1200" b="1" dirty="0">
                          <a:solidFill>
                            <a:srgbClr val="222222"/>
                          </a:solidFill>
                          <a:latin typeface="Arial" pitchFamily="34" charset="0"/>
                          <a:ea typeface="Arial" pitchFamily="34" charset="-122"/>
                          <a:cs typeface="Arial" pitchFamily="34" charset="-120"/>
                        </a:rPr>
                        <a:t>Avg rating</a:t>
                      </a:r>
                      <a:endParaRPr lang="en-US" sz="1200" dirty="0">
                        <a:latin typeface="Arial" charset="0"/>
                        <a:ea typeface="Arial" charset="0"/>
                        <a:cs typeface="Arial" charset="0"/>
                      </a:endParaRPr>
                    </a:p>
                  </a:txBody>
                  <a:tcPr marL="73152" marR="73152" marT="27432" marB="27432" anchor="ctr">
                    <a:lnL w="0" cap="flat" cmpd="sng" algn="ctr">
                      <a:noFill/>
                    </a:lnL>
                    <a:lnR w="0" cap="flat" cmpd="sng" algn="ctr">
                      <a:noFill/>
                    </a:lnR>
                    <a:lnT w="1587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tcPr>
                </a:tc>
                <a:tc>
                  <a:txBody>
                    <a:bodyPr/>
                    <a:lstStyle/>
                    <a:p>
                      <a:pPr algn="r" indent="0" marL="0">
                        <a:buNone/>
                      </a:pPr>
                      <a:r>
                        <a:rPr lang="en-US" sz="1200" b="1" dirty="0">
                          <a:solidFill>
                            <a:srgbClr val="222222"/>
                          </a:solidFill>
                          <a:latin typeface="Arial" pitchFamily="34" charset="0"/>
                          <a:ea typeface="Arial" pitchFamily="34" charset="-122"/>
                          <a:cs typeface="Arial" pitchFamily="34" charset="-120"/>
                        </a:rPr>
                        <a:t>Negative</a:t>
                      </a:r>
                      <a:endParaRPr lang="en-US" sz="1200" dirty="0">
                        <a:latin typeface="Arial" charset="0"/>
                        <a:ea typeface="Arial" charset="0"/>
                        <a:cs typeface="Arial" charset="0"/>
                      </a:endParaRPr>
                    </a:p>
                  </a:txBody>
                  <a:tcPr marL="73152" marR="73152" marT="27432" marB="27432" anchor="ctr">
                    <a:lnL w="0" cap="flat" cmpd="sng" algn="ctr">
                      <a:noFill/>
                    </a:lnL>
                    <a:lnR w="0" cap="flat" cmpd="sng" algn="ctr">
                      <a:noFill/>
                    </a:lnR>
                    <a:lnT w="1587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tcPr>
                </a:tc>
              </a:tr>
              <a:tr h="329184">
                <a:tc>
                  <a:txBody>
                    <a:bodyPr/>
                    <a:lstStyle/>
                    <a:p>
                      <a:pPr algn="l" indent="0" marL="0">
                        <a:buNone/>
                      </a:pPr>
                      <a:r>
                        <a:rPr lang="en-US" sz="1200" dirty="0">
                          <a:solidFill>
                            <a:srgbClr val="222222"/>
                          </a:solidFill>
                          <a:latin typeface="Arial" pitchFamily="34" charset="0"/>
                          <a:ea typeface="Arial" pitchFamily="34" charset="-122"/>
                          <a:cs typeface="Arial" pitchFamily="34" charset="-120"/>
                        </a:rPr>
                        <a:t>no text</a:t>
                      </a:r>
                      <a:endParaRPr lang="en-US" sz="12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c>
                  <a:txBody>
                    <a:bodyPr/>
                    <a:lstStyle/>
                    <a:p>
                      <a:pPr algn="r" indent="0" marL="0">
                        <a:buNone/>
                      </a:pPr>
                      <a:r>
                        <a:rPr lang="en-US" sz="1200" dirty="0">
                          <a:solidFill>
                            <a:srgbClr val="222222"/>
                          </a:solidFill>
                          <a:latin typeface="Arial" pitchFamily="34" charset="0"/>
                          <a:ea typeface="Arial" pitchFamily="34" charset="-122"/>
                          <a:cs typeface="Arial" pitchFamily="34" charset="-120"/>
                        </a:rPr>
                        <a:t>4.39</a:t>
                      </a:r>
                      <a:endParaRPr lang="en-US" sz="12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c>
                  <a:txBody>
                    <a:bodyPr/>
                    <a:lstStyle/>
                    <a:p>
                      <a:pPr algn="r" indent="0" marL="0">
                        <a:buNone/>
                      </a:pPr>
                      <a:r>
                        <a:rPr lang="en-US" sz="1200" dirty="0">
                          <a:solidFill>
                            <a:srgbClr val="222222"/>
                          </a:solidFill>
                          <a:latin typeface="Arial" pitchFamily="34" charset="0"/>
                          <a:ea typeface="Arial" pitchFamily="34" charset="-122"/>
                          <a:cs typeface="Arial" pitchFamily="34" charset="-120"/>
                        </a:rPr>
                        <a:t>5.2%</a:t>
                      </a:r>
                      <a:endParaRPr lang="en-US" sz="12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r>
              <a:tr h="329184">
                <a:tc>
                  <a:txBody>
                    <a:bodyPr/>
                    <a:lstStyle/>
                    <a:p>
                      <a:pPr algn="l" indent="0" marL="0">
                        <a:buNone/>
                      </a:pPr>
                      <a:r>
                        <a:rPr lang="en-US" sz="1200" dirty="0">
                          <a:solidFill>
                            <a:srgbClr val="222222"/>
                          </a:solidFill>
                          <a:latin typeface="Arial" pitchFamily="34" charset="0"/>
                          <a:ea typeface="Arial" pitchFamily="34" charset="-122"/>
                          <a:cs typeface="Arial" pitchFamily="34" charset="-120"/>
                        </a:rPr>
                        <a:t>1–49</a:t>
                      </a:r>
                      <a:endParaRPr lang="en-US" sz="12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c>
                  <a:txBody>
                    <a:bodyPr/>
                    <a:lstStyle/>
                    <a:p>
                      <a:pPr algn="r" indent="0" marL="0">
                        <a:buNone/>
                      </a:pPr>
                      <a:r>
                        <a:rPr lang="en-US" sz="1200" dirty="0">
                          <a:solidFill>
                            <a:srgbClr val="222222"/>
                          </a:solidFill>
                          <a:latin typeface="Arial" pitchFamily="34" charset="0"/>
                          <a:ea typeface="Arial" pitchFamily="34" charset="-122"/>
                          <a:cs typeface="Arial" pitchFamily="34" charset="-120"/>
                        </a:rPr>
                        <a:t>4.48</a:t>
                      </a:r>
                      <a:endParaRPr lang="en-US" sz="12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c>
                  <a:txBody>
                    <a:bodyPr/>
                    <a:lstStyle/>
                    <a:p>
                      <a:pPr algn="r" indent="0" marL="0">
                        <a:buNone/>
                      </a:pPr>
                      <a:r>
                        <a:rPr lang="en-US" sz="1200" dirty="0">
                          <a:solidFill>
                            <a:srgbClr val="222222"/>
                          </a:solidFill>
                          <a:latin typeface="Arial" pitchFamily="34" charset="0"/>
                          <a:ea typeface="Arial" pitchFamily="34" charset="-122"/>
                          <a:cs typeface="Arial" pitchFamily="34" charset="-120"/>
                        </a:rPr>
                        <a:t>5.3%</a:t>
                      </a:r>
                      <a:endParaRPr lang="en-US" sz="12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r>
              <a:tr h="329184">
                <a:tc>
                  <a:txBody>
                    <a:bodyPr/>
                    <a:lstStyle/>
                    <a:p>
                      <a:pPr algn="l" indent="0" marL="0">
                        <a:buNone/>
                      </a:pPr>
                      <a:r>
                        <a:rPr lang="en-US" sz="1200" dirty="0">
                          <a:solidFill>
                            <a:srgbClr val="222222"/>
                          </a:solidFill>
                          <a:latin typeface="Arial" pitchFamily="34" charset="0"/>
                          <a:ea typeface="Arial" pitchFamily="34" charset="-122"/>
                          <a:cs typeface="Arial" pitchFamily="34" charset="-120"/>
                        </a:rPr>
                        <a:t>50–100</a:t>
                      </a:r>
                      <a:endParaRPr lang="en-US" sz="12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c>
                  <a:txBody>
                    <a:bodyPr/>
                    <a:lstStyle/>
                    <a:p>
                      <a:pPr algn="r" indent="0" marL="0">
                        <a:buNone/>
                      </a:pPr>
                      <a:r>
                        <a:rPr lang="en-US" sz="1200" dirty="0">
                          <a:solidFill>
                            <a:srgbClr val="222222"/>
                          </a:solidFill>
                          <a:latin typeface="Arial" pitchFamily="34" charset="0"/>
                          <a:ea typeface="Arial" pitchFamily="34" charset="-122"/>
                          <a:cs typeface="Arial" pitchFamily="34" charset="-120"/>
                        </a:rPr>
                        <a:t>4.46</a:t>
                      </a:r>
                      <a:endParaRPr lang="en-US" sz="12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c>
                  <a:txBody>
                    <a:bodyPr/>
                    <a:lstStyle/>
                    <a:p>
                      <a:pPr algn="r" indent="0" marL="0">
                        <a:buNone/>
                      </a:pPr>
                      <a:r>
                        <a:rPr lang="en-US" sz="1200" dirty="0">
                          <a:solidFill>
                            <a:srgbClr val="222222"/>
                          </a:solidFill>
                          <a:latin typeface="Arial" pitchFamily="34" charset="0"/>
                          <a:ea typeface="Arial" pitchFamily="34" charset="-122"/>
                          <a:cs typeface="Arial" pitchFamily="34" charset="-120"/>
                        </a:rPr>
                        <a:t>6.4%</a:t>
                      </a:r>
                      <a:endParaRPr lang="en-US" sz="12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r>
              <a:tr h="329184">
                <a:tc>
                  <a:txBody>
                    <a:bodyPr/>
                    <a:lstStyle/>
                    <a:p>
                      <a:pPr algn="l" indent="0" marL="0">
                        <a:buNone/>
                      </a:pPr>
                      <a:r>
                        <a:rPr lang="en-US" sz="1200" dirty="0">
                          <a:solidFill>
                            <a:srgbClr val="222222"/>
                          </a:solidFill>
                          <a:latin typeface="Arial" pitchFamily="34" charset="0"/>
                          <a:ea typeface="Arial" pitchFamily="34" charset="-122"/>
                          <a:cs typeface="Arial" pitchFamily="34" charset="-120"/>
                        </a:rPr>
                        <a:t>101–200</a:t>
                      </a:r>
                      <a:endParaRPr lang="en-US" sz="12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c>
                  <a:txBody>
                    <a:bodyPr/>
                    <a:lstStyle/>
                    <a:p>
                      <a:pPr algn="r" indent="0" marL="0">
                        <a:buNone/>
                      </a:pPr>
                      <a:r>
                        <a:rPr lang="en-US" sz="1200" dirty="0">
                          <a:solidFill>
                            <a:srgbClr val="222222"/>
                          </a:solidFill>
                          <a:latin typeface="Arial" pitchFamily="34" charset="0"/>
                          <a:ea typeface="Arial" pitchFamily="34" charset="-122"/>
                          <a:cs typeface="Arial" pitchFamily="34" charset="-120"/>
                        </a:rPr>
                        <a:t>4.36</a:t>
                      </a:r>
                      <a:endParaRPr lang="en-US" sz="12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c>
                  <a:txBody>
                    <a:bodyPr/>
                    <a:lstStyle/>
                    <a:p>
                      <a:pPr algn="r" indent="0" marL="0">
                        <a:buNone/>
                      </a:pPr>
                      <a:r>
                        <a:rPr lang="en-US" sz="1200" dirty="0">
                          <a:solidFill>
                            <a:srgbClr val="222222"/>
                          </a:solidFill>
                          <a:latin typeface="Arial" pitchFamily="34" charset="0"/>
                          <a:ea typeface="Arial" pitchFamily="34" charset="-122"/>
                          <a:cs typeface="Arial" pitchFamily="34" charset="-120"/>
                        </a:rPr>
                        <a:t>9.9%</a:t>
                      </a:r>
                      <a:endParaRPr lang="en-US" sz="12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r>
              <a:tr h="329184">
                <a:tc>
                  <a:txBody>
                    <a:bodyPr/>
                    <a:lstStyle/>
                    <a:p>
                      <a:pPr algn="l" indent="0" marL="0">
                        <a:buNone/>
                      </a:pPr>
                      <a:r>
                        <a:rPr lang="en-US" sz="1200" dirty="0">
                          <a:solidFill>
                            <a:srgbClr val="222222"/>
                          </a:solidFill>
                          <a:latin typeface="Arial" pitchFamily="34" charset="0"/>
                          <a:ea typeface="Arial" pitchFamily="34" charset="-122"/>
                          <a:cs typeface="Arial" pitchFamily="34" charset="-120"/>
                        </a:rPr>
                        <a:t>201–500</a:t>
                      </a:r>
                      <a:endParaRPr lang="en-US" sz="12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c>
                  <a:txBody>
                    <a:bodyPr/>
                    <a:lstStyle/>
                    <a:p>
                      <a:pPr algn="r" indent="0" marL="0">
                        <a:buNone/>
                      </a:pPr>
                      <a:r>
                        <a:rPr lang="en-US" sz="1200" dirty="0">
                          <a:solidFill>
                            <a:srgbClr val="222222"/>
                          </a:solidFill>
                          <a:latin typeface="Arial" pitchFamily="34" charset="0"/>
                          <a:ea typeface="Arial" pitchFamily="34" charset="-122"/>
                          <a:cs typeface="Arial" pitchFamily="34" charset="-120"/>
                        </a:rPr>
                        <a:t>4.13</a:t>
                      </a:r>
                      <a:endParaRPr lang="en-US" sz="12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c>
                  <a:txBody>
                    <a:bodyPr/>
                    <a:lstStyle/>
                    <a:p>
                      <a:pPr algn="r" indent="0" marL="0">
                        <a:buNone/>
                      </a:pPr>
                      <a:r>
                        <a:rPr lang="en-US" sz="1200" dirty="0">
                          <a:solidFill>
                            <a:srgbClr val="222222"/>
                          </a:solidFill>
                          <a:latin typeface="Arial" pitchFamily="34" charset="0"/>
                          <a:ea typeface="Arial" pitchFamily="34" charset="-122"/>
                          <a:cs typeface="Arial" pitchFamily="34" charset="-120"/>
                        </a:rPr>
                        <a:t>16.9%</a:t>
                      </a:r>
                      <a:endParaRPr lang="en-US" sz="12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r>
              <a:tr h="329184">
                <a:tc>
                  <a:txBody>
                    <a:bodyPr/>
                    <a:lstStyle/>
                    <a:p>
                      <a:pPr algn="l" indent="0" marL="0">
                        <a:buNone/>
                      </a:pPr>
                      <a:r>
                        <a:rPr lang="en-US" sz="1200" dirty="0">
                          <a:solidFill>
                            <a:srgbClr val="222222"/>
                          </a:solidFill>
                          <a:latin typeface="Arial" pitchFamily="34" charset="0"/>
                          <a:ea typeface="Arial" pitchFamily="34" charset="-122"/>
                          <a:cs typeface="Arial" pitchFamily="34" charset="-120"/>
                        </a:rPr>
                        <a:t>501–1,000</a:t>
                      </a:r>
                      <a:endParaRPr lang="en-US" sz="12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c>
                  <a:txBody>
                    <a:bodyPr/>
                    <a:lstStyle/>
                    <a:p>
                      <a:pPr algn="r" indent="0" marL="0">
                        <a:buNone/>
                      </a:pPr>
                      <a:r>
                        <a:rPr lang="en-US" sz="1200" dirty="0">
                          <a:solidFill>
                            <a:srgbClr val="222222"/>
                          </a:solidFill>
                          <a:latin typeface="Arial" pitchFamily="34" charset="0"/>
                          <a:ea typeface="Arial" pitchFamily="34" charset="-122"/>
                          <a:cs typeface="Arial" pitchFamily="34" charset="-120"/>
                        </a:rPr>
                        <a:t>3.60</a:t>
                      </a:r>
                      <a:endParaRPr lang="en-US" sz="12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c>
                  <a:txBody>
                    <a:bodyPr/>
                    <a:lstStyle/>
                    <a:p>
                      <a:pPr algn="r" indent="0" marL="0">
                        <a:buNone/>
                      </a:pPr>
                      <a:r>
                        <a:rPr lang="en-US" sz="1200" dirty="0">
                          <a:solidFill>
                            <a:srgbClr val="222222"/>
                          </a:solidFill>
                          <a:latin typeface="Arial" pitchFamily="34" charset="0"/>
                          <a:ea typeface="Arial" pitchFamily="34" charset="-122"/>
                          <a:cs typeface="Arial" pitchFamily="34" charset="-120"/>
                        </a:rPr>
                        <a:t>31.5%</a:t>
                      </a:r>
                      <a:endParaRPr lang="en-US" sz="12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r>
              <a:tr h="329184">
                <a:tc>
                  <a:txBody>
                    <a:bodyPr/>
                    <a:lstStyle/>
                    <a:p>
                      <a:pPr algn="l" indent="0" marL="0">
                        <a:buNone/>
                      </a:pPr>
                      <a:r>
                        <a:rPr lang="en-US" sz="1200" dirty="0">
                          <a:solidFill>
                            <a:srgbClr val="222222"/>
                          </a:solidFill>
                          <a:latin typeface="Arial" pitchFamily="34" charset="0"/>
                          <a:ea typeface="Arial" pitchFamily="34" charset="-122"/>
                          <a:cs typeface="Arial" pitchFamily="34" charset="-120"/>
                        </a:rPr>
                        <a:t>over 1,000</a:t>
                      </a:r>
                      <a:endParaRPr lang="en-US" sz="12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15875" cap="flat" cmpd="sng" algn="ctr">
                      <a:solidFill>
                        <a:srgbClr val="222222"/>
                      </a:solidFill>
                      <a:prstDash val="solid"/>
                      <a:round/>
                      <a:headEnd type="none" w="med" len="med"/>
                      <a:tailEnd type="none" w="med" len="med"/>
                    </a:lnB>
                  </a:tcPr>
                </a:tc>
                <a:tc>
                  <a:txBody>
                    <a:bodyPr/>
                    <a:lstStyle/>
                    <a:p>
                      <a:pPr algn="r" indent="0" marL="0">
                        <a:buNone/>
                      </a:pPr>
                      <a:r>
                        <a:rPr lang="en-US" sz="1200" dirty="0">
                          <a:solidFill>
                            <a:srgbClr val="222222"/>
                          </a:solidFill>
                          <a:latin typeface="Arial" pitchFamily="34" charset="0"/>
                          <a:ea typeface="Arial" pitchFamily="34" charset="-122"/>
                          <a:cs typeface="Arial" pitchFamily="34" charset="-120"/>
                        </a:rPr>
                        <a:t>2.93</a:t>
                      </a:r>
                      <a:endParaRPr lang="en-US" sz="12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15875" cap="flat" cmpd="sng" algn="ctr">
                      <a:solidFill>
                        <a:srgbClr val="222222"/>
                      </a:solidFill>
                      <a:prstDash val="solid"/>
                      <a:round/>
                      <a:headEnd type="none" w="med" len="med"/>
                      <a:tailEnd type="none" w="med" len="med"/>
                    </a:lnB>
                  </a:tcPr>
                </a:tc>
                <a:tc>
                  <a:txBody>
                    <a:bodyPr/>
                    <a:lstStyle/>
                    <a:p>
                      <a:pPr algn="r" indent="0" marL="0">
                        <a:buNone/>
                      </a:pPr>
                      <a:r>
                        <a:rPr lang="en-US" sz="1200" dirty="0">
                          <a:solidFill>
                            <a:srgbClr val="9B0014"/>
                          </a:solidFill>
                          <a:latin typeface="Arial" pitchFamily="34" charset="0"/>
                          <a:ea typeface="Arial" pitchFamily="34" charset="-122"/>
                          <a:cs typeface="Arial" pitchFamily="34" charset="-120"/>
                        </a:rPr>
                        <a:t>48.9%</a:t>
                      </a:r>
                      <a:endParaRPr lang="en-US" sz="12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15875" cap="flat" cmpd="sng" algn="ctr">
                      <a:solidFill>
                        <a:srgbClr val="222222"/>
                      </a:solidFill>
                      <a:prstDash val="solid"/>
                      <a:round/>
                      <a:headEnd type="none" w="med" len="med"/>
                      <a:tailEnd type="none" w="med" len="med"/>
                    </a:lnB>
                  </a:tcPr>
                </a:tc>
              </a:tr>
            </a:tbl>
          </a:graphicData>
        </a:graphic>
      </p:graphicFrame>
      <p:sp>
        <p:nvSpPr>
          <p:cNvPr id="6" name="Text 3"/>
          <p:cNvSpPr txBox="1"/>
          <p:nvPr/>
        </p:nvSpPr>
        <p:spPr>
          <a:xfrm>
            <a:off x="5212080" y="1371600"/>
            <a:ext cx="3383280" cy="274320"/>
          </a:xfrm>
          <a:prstGeom prst="rect">
            <a:avLst/>
          </a:prstGeom>
          <a:noFill/>
          <a:ln/>
        </p:spPr>
        <p:txBody>
          <a:bodyPr wrap="square" lIns="0" tIns="0" rIns="0" bIns="0" rtlCol="0" anchor="t"/>
          <a:lstStyle/>
          <a:p>
            <a:pPr indent="0" marL="0">
              <a:buNone/>
            </a:pPr>
            <a:r>
              <a:rPr lang="en-US" sz="1300" b="1" dirty="0">
                <a:solidFill>
                  <a:schemeClr val="tx1"/>
                </a:solidFill>
              </a:rPr>
              <a:t>After anonymization</a:t>
            </a:r>
            <a:endParaRPr lang="en-US" sz="1300" dirty="0"/>
          </a:p>
        </p:txBody>
      </p:sp>
      <p:graphicFrame>
        <p:nvGraphicFramePr>
          <p:cNvPr id="13" name="utility anonymized"/>
          <p:cNvGraphicFramePr>
            <a:graphicFrameLocks noGrp="1"/>
          </p:cNvGraphicFramePr>
          <p:nvPr>
            <p:extLst>
              <p:ext uri="{D42A27DB-BD31-4B8C-83A1-F6EECF244321}">
                <p14:modId xmlns:p14="http://schemas.microsoft.com/office/powerpoint/2010/main" val="1579011935"/>
              </p:ext>
            </p:extLst>
          </p:nvPr>
        </p:nvGraphicFramePr>
        <p:xfrm>
          <a:off x="5212080" y="1691640"/>
          <a:ext cx="3383280" cy="914400"/>
        </p:xfrm>
        <a:graphic>
          <a:graphicData uri="http://schemas.openxmlformats.org/drawingml/2006/table">
            <a:tbl>
              <a:tblPr/>
              <a:tblGrid>
                <a:gridCol w="1463040"/>
                <a:gridCol w="960120"/>
                <a:gridCol w="960120"/>
              </a:tblGrid>
              <a:tr h="329184">
                <a:tc>
                  <a:txBody>
                    <a:bodyPr/>
                    <a:lstStyle/>
                    <a:p>
                      <a:pPr algn="l" indent="0" marL="0">
                        <a:buNone/>
                      </a:pPr>
                      <a:r>
                        <a:rPr lang="en-US" sz="1200" b="1" dirty="0">
                          <a:solidFill>
                            <a:srgbClr val="222222"/>
                          </a:solidFill>
                          <a:latin typeface="Arial" pitchFamily="34" charset="0"/>
                          <a:ea typeface="Arial" pitchFamily="34" charset="-122"/>
                          <a:cs typeface="Arial" pitchFamily="34" charset="-120"/>
                        </a:rPr>
                        <a:t>Length class</a:t>
                      </a:r>
                      <a:endParaRPr lang="en-US" sz="1200" dirty="0">
                        <a:latin typeface="Arial" charset="0"/>
                        <a:ea typeface="Arial" charset="0"/>
                        <a:cs typeface="Arial" charset="0"/>
                      </a:endParaRPr>
                    </a:p>
                  </a:txBody>
                  <a:tcPr marL="73152" marR="73152" marT="27432" marB="27432" anchor="ctr">
                    <a:lnL w="0" cap="flat" cmpd="sng" algn="ctr">
                      <a:noFill/>
                    </a:lnL>
                    <a:lnR w="0" cap="flat" cmpd="sng" algn="ctr">
                      <a:noFill/>
                    </a:lnR>
                    <a:lnT w="1587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tcPr>
                </a:tc>
                <a:tc>
                  <a:txBody>
                    <a:bodyPr/>
                    <a:lstStyle/>
                    <a:p>
                      <a:pPr algn="r" indent="0" marL="0">
                        <a:buNone/>
                      </a:pPr>
                      <a:r>
                        <a:rPr lang="en-US" sz="1200" b="1" dirty="0">
                          <a:solidFill>
                            <a:srgbClr val="222222"/>
                          </a:solidFill>
                          <a:latin typeface="Arial" pitchFamily="34" charset="0"/>
                          <a:ea typeface="Arial" pitchFamily="34" charset="-122"/>
                          <a:cs typeface="Arial" pitchFamily="34" charset="-120"/>
                        </a:rPr>
                        <a:t>Avg rating</a:t>
                      </a:r>
                      <a:endParaRPr lang="en-US" sz="1200" dirty="0">
                        <a:latin typeface="Arial" charset="0"/>
                        <a:ea typeface="Arial" charset="0"/>
                        <a:cs typeface="Arial" charset="0"/>
                      </a:endParaRPr>
                    </a:p>
                  </a:txBody>
                  <a:tcPr marL="73152" marR="73152" marT="27432" marB="27432" anchor="ctr">
                    <a:lnL w="0" cap="flat" cmpd="sng" algn="ctr">
                      <a:noFill/>
                    </a:lnL>
                    <a:lnR w="0" cap="flat" cmpd="sng" algn="ctr">
                      <a:noFill/>
                    </a:lnR>
                    <a:lnT w="1587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tcPr>
                </a:tc>
                <a:tc>
                  <a:txBody>
                    <a:bodyPr/>
                    <a:lstStyle/>
                    <a:p>
                      <a:pPr algn="r" indent="0" marL="0">
                        <a:buNone/>
                      </a:pPr>
                      <a:r>
                        <a:rPr lang="en-US" sz="1200" b="1" dirty="0">
                          <a:solidFill>
                            <a:srgbClr val="222222"/>
                          </a:solidFill>
                          <a:latin typeface="Arial" pitchFamily="34" charset="0"/>
                          <a:ea typeface="Arial" pitchFamily="34" charset="-122"/>
                          <a:cs typeface="Arial" pitchFamily="34" charset="-120"/>
                        </a:rPr>
                        <a:t>Negative</a:t>
                      </a:r>
                      <a:endParaRPr lang="en-US" sz="1200" dirty="0">
                        <a:latin typeface="Arial" charset="0"/>
                        <a:ea typeface="Arial" charset="0"/>
                        <a:cs typeface="Arial" charset="0"/>
                      </a:endParaRPr>
                    </a:p>
                  </a:txBody>
                  <a:tcPr marL="73152" marR="73152" marT="27432" marB="27432" anchor="ctr">
                    <a:lnL w="0" cap="flat" cmpd="sng" algn="ctr">
                      <a:noFill/>
                    </a:lnL>
                    <a:lnR w="0" cap="flat" cmpd="sng" algn="ctr">
                      <a:noFill/>
                    </a:lnR>
                    <a:lnT w="1587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tcPr>
                </a:tc>
              </a:tr>
              <a:tr h="329184">
                <a:tc>
                  <a:txBody>
                    <a:bodyPr/>
                    <a:lstStyle/>
                    <a:p>
                      <a:pPr algn="l" indent="0" marL="0">
                        <a:buNone/>
                      </a:pPr>
                      <a:r>
                        <a:rPr lang="en-US" sz="1200" dirty="0">
                          <a:solidFill>
                            <a:srgbClr val="222222"/>
                          </a:solidFill>
                          <a:latin typeface="Arial" pitchFamily="34" charset="0"/>
                          <a:ea typeface="Arial" pitchFamily="34" charset="-122"/>
                          <a:cs typeface="Arial" pitchFamily="34" charset="-120"/>
                        </a:rPr>
                        <a:t>short (&lt; 50)</a:t>
                      </a:r>
                      <a:endParaRPr lang="en-US" sz="12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c>
                  <a:txBody>
                    <a:bodyPr/>
                    <a:lstStyle/>
                    <a:p>
                      <a:pPr algn="r" indent="0" marL="0">
                        <a:buNone/>
                      </a:pPr>
                      <a:r>
                        <a:rPr lang="en-US" sz="1200" dirty="0">
                          <a:solidFill>
                            <a:srgbClr val="222222"/>
                          </a:solidFill>
                          <a:latin typeface="Arial" pitchFamily="34" charset="0"/>
                          <a:ea typeface="Arial" pitchFamily="34" charset="-122"/>
                          <a:cs typeface="Arial" pitchFamily="34" charset="-120"/>
                        </a:rPr>
                        <a:t>4.42</a:t>
                      </a:r>
                      <a:endParaRPr lang="en-US" sz="12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c>
                  <a:txBody>
                    <a:bodyPr/>
                    <a:lstStyle/>
                    <a:p>
                      <a:pPr algn="r" indent="0" marL="0">
                        <a:buNone/>
                      </a:pPr>
                      <a:r>
                        <a:rPr lang="en-US" sz="1200" dirty="0">
                          <a:solidFill>
                            <a:srgbClr val="222222"/>
                          </a:solidFill>
                          <a:latin typeface="Arial" pitchFamily="34" charset="0"/>
                          <a:ea typeface="Arial" pitchFamily="34" charset="-122"/>
                          <a:cs typeface="Arial" pitchFamily="34" charset="-120"/>
                        </a:rPr>
                        <a:t>5.2%</a:t>
                      </a:r>
                      <a:endParaRPr lang="en-US" sz="12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r>
              <a:tr h="329184">
                <a:tc>
                  <a:txBody>
                    <a:bodyPr/>
                    <a:lstStyle/>
                    <a:p>
                      <a:pPr algn="l" indent="0" marL="0">
                        <a:buNone/>
                      </a:pPr>
                      <a:r>
                        <a:rPr lang="en-US" sz="1200" dirty="0">
                          <a:solidFill>
                            <a:srgbClr val="222222"/>
                          </a:solidFill>
                          <a:latin typeface="Arial" pitchFamily="34" charset="0"/>
                          <a:ea typeface="Arial" pitchFamily="34" charset="-122"/>
                          <a:cs typeface="Arial" pitchFamily="34" charset="-120"/>
                        </a:rPr>
                        <a:t>medium (50–500)</a:t>
                      </a:r>
                      <a:endParaRPr lang="en-US" sz="12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c>
                  <a:txBody>
                    <a:bodyPr/>
                    <a:lstStyle/>
                    <a:p>
                      <a:pPr algn="r" indent="0" marL="0">
                        <a:buNone/>
                      </a:pPr>
                      <a:r>
                        <a:rPr lang="en-US" sz="1200" dirty="0">
                          <a:solidFill>
                            <a:srgbClr val="222222"/>
                          </a:solidFill>
                          <a:latin typeface="Arial" pitchFamily="34" charset="0"/>
                          <a:ea typeface="Arial" pitchFamily="34" charset="-122"/>
                          <a:cs typeface="Arial" pitchFamily="34" charset="-120"/>
                        </a:rPr>
                        <a:t>4.33</a:t>
                      </a:r>
                      <a:endParaRPr lang="en-US" sz="12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c>
                  <a:txBody>
                    <a:bodyPr/>
                    <a:lstStyle/>
                    <a:p>
                      <a:pPr algn="r" indent="0" marL="0">
                        <a:buNone/>
                      </a:pPr>
                      <a:r>
                        <a:rPr lang="en-US" sz="1200" dirty="0">
                          <a:solidFill>
                            <a:srgbClr val="222222"/>
                          </a:solidFill>
                          <a:latin typeface="Arial" pitchFamily="34" charset="0"/>
                          <a:ea typeface="Arial" pitchFamily="34" charset="-122"/>
                          <a:cs typeface="Arial" pitchFamily="34" charset="-120"/>
                        </a:rPr>
                        <a:t>10.6%</a:t>
                      </a:r>
                      <a:endParaRPr lang="en-US" sz="12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6350" cap="flat" cmpd="sng" algn="ctr">
                      <a:solidFill>
                        <a:srgbClr val="E3E3E3"/>
                      </a:solidFill>
                      <a:prstDash val="solid"/>
                      <a:round/>
                      <a:headEnd type="none" w="med" len="med"/>
                      <a:tailEnd type="none" w="med" len="med"/>
                    </a:lnB>
                  </a:tcPr>
                </a:tc>
              </a:tr>
              <a:tr h="329184">
                <a:tc>
                  <a:txBody>
                    <a:bodyPr/>
                    <a:lstStyle/>
                    <a:p>
                      <a:pPr algn="l" indent="0" marL="0">
                        <a:buNone/>
                      </a:pPr>
                      <a:r>
                        <a:rPr lang="en-US" sz="1200" dirty="0">
                          <a:solidFill>
                            <a:srgbClr val="222222"/>
                          </a:solidFill>
                          <a:latin typeface="Arial" pitchFamily="34" charset="0"/>
                          <a:ea typeface="Arial" pitchFamily="34" charset="-122"/>
                          <a:cs typeface="Arial" pitchFamily="34" charset="-120"/>
                        </a:rPr>
                        <a:t>long (&gt; 500)</a:t>
                      </a:r>
                      <a:endParaRPr lang="en-US" sz="12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15875" cap="flat" cmpd="sng" algn="ctr">
                      <a:solidFill>
                        <a:srgbClr val="222222"/>
                      </a:solidFill>
                      <a:prstDash val="solid"/>
                      <a:round/>
                      <a:headEnd type="none" w="med" len="med"/>
                      <a:tailEnd type="none" w="med" len="med"/>
                    </a:lnB>
                  </a:tcPr>
                </a:tc>
                <a:tc>
                  <a:txBody>
                    <a:bodyPr/>
                    <a:lstStyle/>
                    <a:p>
                      <a:pPr algn="r" indent="0" marL="0">
                        <a:buNone/>
                      </a:pPr>
                      <a:r>
                        <a:rPr lang="en-US" sz="1200" dirty="0">
                          <a:solidFill>
                            <a:srgbClr val="222222"/>
                          </a:solidFill>
                          <a:latin typeface="Arial" pitchFamily="34" charset="0"/>
                          <a:ea typeface="Arial" pitchFamily="34" charset="-122"/>
                          <a:cs typeface="Arial" pitchFamily="34" charset="-120"/>
                        </a:rPr>
                        <a:t>3.45</a:t>
                      </a:r>
                      <a:endParaRPr lang="en-US" sz="12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15875" cap="flat" cmpd="sng" algn="ctr">
                      <a:solidFill>
                        <a:srgbClr val="222222"/>
                      </a:solidFill>
                      <a:prstDash val="solid"/>
                      <a:round/>
                      <a:headEnd type="none" w="med" len="med"/>
                      <a:tailEnd type="none" w="med" len="med"/>
                    </a:lnB>
                  </a:tcPr>
                </a:tc>
                <a:tc>
                  <a:txBody>
                    <a:bodyPr/>
                    <a:lstStyle/>
                    <a:p>
                      <a:pPr algn="r" indent="0" marL="0">
                        <a:buNone/>
                      </a:pPr>
                      <a:r>
                        <a:rPr lang="en-US" sz="1200" dirty="0">
                          <a:solidFill>
                            <a:srgbClr val="9B0014"/>
                          </a:solidFill>
                          <a:latin typeface="Arial" pitchFamily="34" charset="0"/>
                          <a:ea typeface="Arial" pitchFamily="34" charset="-122"/>
                          <a:cs typeface="Arial" pitchFamily="34" charset="-120"/>
                        </a:rPr>
                        <a:t>35.3%</a:t>
                      </a:r>
                      <a:endParaRPr lang="en-US" sz="12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15875" cap="flat" cmpd="sng" algn="ctr">
                      <a:solidFill>
                        <a:srgbClr val="222222"/>
                      </a:solidFill>
                      <a:prstDash val="solid"/>
                      <a:round/>
                      <a:headEnd type="none" w="med" len="med"/>
                      <a:tailEnd type="none" w="med" len="med"/>
                    </a:lnB>
                  </a:tcPr>
                </a:tc>
              </a:tr>
            </a:tbl>
          </a:graphicData>
        </a:graphic>
      </p:graphicFrame>
      <p:sp>
        <p:nvSpPr>
          <p:cNvPr id="8" name="Text 4"/>
          <p:cNvSpPr txBox="1"/>
          <p:nvPr/>
        </p:nvSpPr>
        <p:spPr>
          <a:xfrm>
            <a:off x="5212080" y="3154680"/>
            <a:ext cx="3383280" cy="822960"/>
          </a:xfrm>
          <a:prstGeom prst="rect">
            <a:avLst/>
          </a:prstGeom>
          <a:noFill/>
          <a:ln/>
        </p:spPr>
        <p:txBody>
          <a:bodyPr wrap="square" lIns="0" tIns="0" rIns="0" bIns="0" rtlCol="0" anchor="t"/>
          <a:lstStyle/>
          <a:p>
            <a:pPr indent="0" marL="0">
              <a:buNone/>
            </a:pPr>
            <a:r>
              <a:rPr lang="en-US" sz="1300" dirty="0">
                <a:solidFill>
                  <a:schemeClr val="tx2"/>
                </a:solidFill>
              </a:rPr>
              <a:t>The pattern survives with only three length classes. ("short" also includes reviews with no text.)</a:t>
            </a:r>
            <a:endParaRPr lang="en-US" sz="13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594360"/>
          </a:xfrm>
          <a:prstGeom prst="rect">
            <a:avLst/>
          </a:prstGeom>
          <a:noFill/>
          <a:ln/>
        </p:spPr>
        <p:txBody>
          <a:bodyPr wrap="square" lIns="0" tIns="0" rIns="0" bIns="0" rtlCol="0" anchor="ctr"/>
          <a:lstStyle/>
          <a:p>
            <a:pPr algn="l" indent="0" marL="0">
              <a:buNone/>
            </a:pPr>
            <a:r>
              <a:rPr lang="en-US" sz="2600" dirty="0">
                <a:solidFill>
                  <a:schemeClr val="tx1"/>
                </a:solidFill>
              </a:rPr>
              <a:t>Code: identifiers, date and text</a:t>
            </a:r>
            <a:endParaRPr lang="en-US" sz="2600" dirty="0"/>
          </a:p>
        </p:txBody>
      </p:sp>
      <p:sp>
        <p:nvSpPr>
          <p:cNvPr id="3" name="Text 1"/>
          <p:cNvSpPr txBox="1"/>
          <p:nvPr/>
        </p:nvSpPr>
        <p:spPr>
          <a:xfrm>
            <a:off x="548640" y="1051560"/>
            <a:ext cx="8046720" cy="274320"/>
          </a:xfrm>
          <a:prstGeom prst="rect">
            <a:avLst/>
          </a:prstGeom>
          <a:noFill/>
          <a:ln/>
        </p:spPr>
        <p:txBody>
          <a:bodyPr wrap="square" lIns="0" tIns="0" rIns="0" bIns="0" rtlCol="0" anchor="t"/>
          <a:lstStyle/>
          <a:p>
            <a:pPr indent="0" marL="0">
              <a:buNone/>
            </a:pPr>
            <a:r>
              <a:rPr lang="en-US" sz="1400" dirty="0">
                <a:solidFill>
                  <a:schemeClr val="tx2"/>
                </a:solidFill>
              </a:rPr>
              <a:t>user_id and name are dropped (sanitization). The date and the text are generalized:</a:t>
            </a:r>
            <a:endParaRPr lang="en-US" sz="1400" dirty="0"/>
          </a:p>
        </p:txBody>
      </p:sp>
      <p:sp>
        <p:nvSpPr>
          <p:cNvPr id="4" name="code date text background"/>
          <p:cNvSpPr/>
          <p:nvPr/>
        </p:nvSpPr>
        <p:spPr>
          <a:xfrm>
            <a:off x="548640" y="1463040"/>
            <a:ext cx="8046720" cy="2514600"/>
          </a:xfrm>
          <a:prstGeom prst="rect">
            <a:avLst/>
          </a:prstGeom>
          <a:solidFill>
            <a:srgbClr val="F4F4F4"/>
          </a:solidFill>
          <a:ln/>
        </p:spPr>
      </p:sp>
      <p:sp>
        <p:nvSpPr>
          <p:cNvPr id="5" name="code date text"/>
          <p:cNvSpPr txBox="1"/>
          <p:nvPr/>
        </p:nvSpPr>
        <p:spPr>
          <a:xfrm>
            <a:off x="731520" y="1600200"/>
            <a:ext cx="7680960" cy="2240280"/>
          </a:xfrm>
          <a:prstGeom prst="rect">
            <a:avLst/>
          </a:prstGeom>
          <a:noFill/>
          <a:ln/>
        </p:spPr>
        <p:txBody>
          <a:bodyPr wrap="square" lIns="0" tIns="0" rIns="0" bIns="0" rtlCol="0" anchor="ctr"/>
          <a:lstStyle/>
          <a:p>
            <a:pPr indent="0" marL="0">
              <a:lnSpc>
                <a:spcPct val="110000"/>
              </a:lnSpc>
              <a:buNone/>
            </a:pPr>
            <a:r>
              <a:rPr lang="en-US" sz="1200" dirty="0">
                <a:solidFill>
                  <a:srgbClr val="8A8A8A"/>
                </a:solidFill>
                <a:latin typeface="Courier New" pitchFamily="34" charset="0"/>
                <a:ea typeface="Courier New" pitchFamily="34" charset="-122"/>
                <a:cs typeface="Courier New" pitchFamily="34" charset="-120"/>
              </a:rPr>
              <a:t># anonymize_v2.py</a:t>
            </a:r>
            <a:endParaRPr lang="en-US" sz="1200" dirty="0"/>
          </a:p>
          <a:p>
            <a:pPr indent="0" marL="0">
              <a:lnSpc>
                <a:spcPct val="110000"/>
              </a:lnSpc>
              <a:buNone/>
            </a:pPr>
            <a:r>
              <a:rPr lang="en-US" sz="1200" dirty="0">
                <a:solidFill>
                  <a:srgbClr val="222222"/>
                </a:solidFill>
                <a:latin typeface="Courier New" pitchFamily="34" charset="0"/>
                <a:ea typeface="Courier New" pitchFamily="34" charset="-122"/>
                <a:cs typeface="Courier New" pitchFamily="34" charset="-120"/>
              </a:rPr>
              <a:t>row.pop('time')                 </a:t>
            </a:r>
            <a:r>
              <a:rPr lang="en-US" sz="1200" dirty="0">
                <a:solidFill>
                  <a:srgbClr val="8A8A8A"/>
                </a:solidFill>
                <a:latin typeface="Courier New" pitchFamily="34" charset="0"/>
                <a:ea typeface="Courier New" pitchFamily="34" charset="-122"/>
                <a:cs typeface="Courier New" pitchFamily="34" charset="-120"/>
              </a:rPr>
              <a:t># the hour is an explicit time stamp, drop it</a:t>
            </a:r>
            <a:endParaRPr lang="en-US" sz="1200" dirty="0"/>
          </a:p>
          <a:p>
            <a:pPr indent="0" marL="0">
              <a:lnSpc>
                <a:spcPct val="110000"/>
              </a:lnSpc>
              <a:buNone/>
            </a:pPr>
            <a:r>
              <a:rPr lang="en-US" sz="1200" dirty="0">
                <a:solidFill>
                  <a:srgbClr val="222222"/>
                </a:solidFill>
                <a:latin typeface="Courier New" pitchFamily="34" charset="0"/>
                <a:ea typeface="Courier New" pitchFamily="34" charset="-122"/>
                <a:cs typeface="Courier New" pitchFamily="34" charset="-120"/>
              </a:rPr>
              <a:t>row['date'] = row['date'][:7]   </a:t>
            </a:r>
            <a:r>
              <a:rPr lang="en-US" sz="1200" dirty="0">
                <a:solidFill>
                  <a:srgbClr val="8A8A8A"/>
                </a:solidFill>
                <a:latin typeface="Courier New" pitchFamily="34" charset="0"/>
                <a:ea typeface="Courier New" pitchFamily="34" charset="-122"/>
                <a:cs typeface="Courier New" pitchFamily="34" charset="-120"/>
              </a:rPr>
              <a:t># generalization: YYYY-MM-DD -&gt; YYYY-MM</a:t>
            </a:r>
            <a:endParaRPr lang="en-US" sz="1200" dirty="0"/>
          </a:p>
          <a:p>
            <a:pPr indent="0" marL="0">
              <a:lnSpc>
                <a:spcPct val="110000"/>
              </a:lnSpc>
              <a:buNone/>
            </a:pPr>
            <a:r>
              <a:rPr lang="en-US" sz="1200" dirty="0">
                <a:solidFill>
                  <a:srgbClr val="222222"/>
                </a:solidFill>
                <a:latin typeface="Courier New" pitchFamily="34" charset="0"/>
                <a:ea typeface="Courier New" pitchFamily="34" charset="-122"/>
                <a:cs typeface="Courier New" pitchFamily="34" charset="-120"/>
              </a:rPr>
              <a:t> </a:t>
            </a:r>
            <a:endParaRPr lang="en-US" sz="1200" dirty="0"/>
          </a:p>
          <a:p>
            <a:pPr indent="0" marL="0">
              <a:lnSpc>
                <a:spcPct val="110000"/>
              </a:lnSpc>
              <a:buNone/>
            </a:pPr>
            <a:r>
              <a:rPr lang="en-US" sz="1200" dirty="0">
                <a:solidFill>
                  <a:srgbClr val="8A8A8A"/>
                </a:solidFill>
                <a:latin typeface="Courier New" pitchFamily="34" charset="0"/>
                <a:ea typeface="Courier New" pitchFamily="34" charset="-122"/>
                <a:cs typeface="Courier New" pitchFamily="34" charset="-120"/>
              </a:rPr>
              <a:t># anonymize_v3.py</a:t>
            </a:r>
            <a:endParaRPr lang="en-US" sz="1200" dirty="0"/>
          </a:p>
          <a:p>
            <a:pPr indent="0" marL="0">
              <a:lnSpc>
                <a:spcPct val="110000"/>
              </a:lnSpc>
              <a:buNone/>
            </a:pPr>
            <a:r>
              <a:rPr lang="en-US" sz="1200" dirty="0">
                <a:solidFill>
                  <a:srgbClr val="222222"/>
                </a:solidFill>
                <a:latin typeface="Courier New" pitchFamily="34" charset="0"/>
                <a:ea typeface="Courier New" pitchFamily="34" charset="-122"/>
                <a:cs typeface="Courier New" pitchFamily="34" charset="-120"/>
              </a:rPr>
              <a:t>def length_category(n):</a:t>
            </a:r>
            <a:endParaRPr lang="en-US" sz="1200" dirty="0"/>
          </a:p>
          <a:p>
            <a:pPr indent="0" marL="0">
              <a:lnSpc>
                <a:spcPct val="110000"/>
              </a:lnSpc>
              <a:buNone/>
            </a:pPr>
            <a:r>
              <a:rPr lang="en-US" sz="1200" dirty="0">
                <a:solidFill>
                  <a:srgbClr val="222222"/>
                </a:solidFill>
                <a:latin typeface="Courier New" pitchFamily="34" charset="0"/>
                <a:ea typeface="Courier New" pitchFamily="34" charset="-122"/>
                <a:cs typeface="Courier New" pitchFamily="34" charset="-120"/>
              </a:rPr>
              <a:t>    if n is None: return None</a:t>
            </a:r>
            <a:endParaRPr lang="en-US" sz="1200" dirty="0"/>
          </a:p>
          <a:p>
            <a:pPr indent="0" marL="0">
              <a:lnSpc>
                <a:spcPct val="110000"/>
              </a:lnSpc>
              <a:buNone/>
            </a:pPr>
            <a:r>
              <a:rPr lang="en-US" sz="1200" dirty="0">
                <a:solidFill>
                  <a:srgbClr val="222222"/>
                </a:solidFill>
                <a:latin typeface="Courier New" pitchFamily="34" charset="0"/>
                <a:ea typeface="Courier New" pitchFamily="34" charset="-122"/>
                <a:cs typeface="Courier New" pitchFamily="34" charset="-120"/>
              </a:rPr>
              <a:t>    if n &lt; 50:    return 'short'    </a:t>
            </a:r>
            <a:r>
              <a:rPr lang="en-US" sz="1200" dirty="0">
                <a:solidFill>
                  <a:srgbClr val="8A8A8A"/>
                </a:solidFill>
                <a:latin typeface="Courier New" pitchFamily="34" charset="0"/>
                <a:ea typeface="Courier New" pitchFamily="34" charset="-122"/>
                <a:cs typeface="Courier New" pitchFamily="34" charset="-120"/>
              </a:rPr>
              <a:t># carries little information</a:t>
            </a:r>
            <a:endParaRPr lang="en-US" sz="1200" dirty="0"/>
          </a:p>
          <a:p>
            <a:pPr indent="0" marL="0">
              <a:lnSpc>
                <a:spcPct val="110000"/>
              </a:lnSpc>
              <a:buNone/>
            </a:pPr>
            <a:r>
              <a:rPr lang="en-US" sz="1200" dirty="0">
                <a:solidFill>
                  <a:srgbClr val="222222"/>
                </a:solidFill>
                <a:latin typeface="Courier New" pitchFamily="34" charset="0"/>
                <a:ea typeface="Courier New" pitchFamily="34" charset="-122"/>
                <a:cs typeface="Courier New" pitchFamily="34" charset="-120"/>
              </a:rPr>
              <a:t>    if n &lt;= 500:  return 'medium'   </a:t>
            </a:r>
            <a:r>
              <a:rPr lang="en-US" sz="1200" dirty="0">
                <a:solidFill>
                  <a:srgbClr val="8A8A8A"/>
                </a:solidFill>
                <a:latin typeface="Courier New" pitchFamily="34" charset="0"/>
                <a:ea typeface="Courier New" pitchFamily="34" charset="-122"/>
                <a:cs typeface="Courier New" pitchFamily="34" charset="-120"/>
              </a:rPr>
              <a:t># the informative core</a:t>
            </a:r>
            <a:endParaRPr lang="en-US" sz="1200" dirty="0"/>
          </a:p>
          <a:p>
            <a:pPr indent="0" marL="0">
              <a:lnSpc>
                <a:spcPct val="110000"/>
              </a:lnSpc>
              <a:buNone/>
            </a:pPr>
            <a:r>
              <a:rPr lang="en-US" sz="1200" dirty="0">
                <a:solidFill>
                  <a:srgbClr val="222222"/>
                </a:solidFill>
                <a:latin typeface="Courier New" pitchFamily="34" charset="0"/>
                <a:ea typeface="Courier New" pitchFamily="34" charset="-122"/>
                <a:cs typeface="Courier New" pitchFamily="34" charset="-120"/>
              </a:rPr>
              <a:t>    return 'long'                   </a:t>
            </a:r>
            <a:r>
              <a:rPr lang="en-US" sz="1200" dirty="0">
                <a:solidFill>
                  <a:srgbClr val="8A8A8A"/>
                </a:solidFill>
                <a:latin typeface="Courier New" pitchFamily="34" charset="0"/>
                <a:ea typeface="Courier New" pitchFamily="34" charset="-122"/>
                <a:cs typeface="Courier New" pitchFamily="34" charset="-120"/>
              </a:rPr>
              <a:t># verbose outliers</a:t>
            </a:r>
            <a:endParaRPr lang="en-US" sz="1200" dirty="0"/>
          </a:p>
        </p:txBody>
      </p:sp>
      <p:sp>
        <p:nvSpPr>
          <p:cNvPr id="6" name="Text 4"/>
          <p:cNvSpPr txBox="1"/>
          <p:nvPr/>
        </p:nvSpPr>
        <p:spPr>
          <a:xfrm>
            <a:off x="548640" y="4160520"/>
            <a:ext cx="8046720" cy="320040"/>
          </a:xfrm>
          <a:prstGeom prst="rect">
            <a:avLst/>
          </a:prstGeom>
          <a:noFill/>
          <a:ln/>
        </p:spPr>
        <p:txBody>
          <a:bodyPr wrap="square" lIns="0" tIns="0" rIns="0" bIns="0" rtlCol="0" anchor="t"/>
          <a:lstStyle/>
          <a:p>
            <a:pPr indent="0" marL="0">
              <a:buNone/>
            </a:pPr>
            <a:r>
              <a:rPr lang="en-US" sz="1400" b="1" dirty="0">
                <a:solidFill>
                  <a:schemeClr val="tx1"/>
                </a:solidFill>
              </a:rPr>
              <a:t>Result: </a:t>
            </a:r>
            <a:r>
              <a:rPr lang="en-US" sz="1400" dirty="0">
                <a:solidFill>
                  <a:schemeClr val="tx1"/>
                </a:solidFill>
              </a:rPr>
              <a:t>3,939 distinct days → 177 months; review text and owner reply → short / medium / long</a:t>
            </a:r>
            <a:endParaRPr lang="en-US" sz="14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594360"/>
          </a:xfrm>
          <a:prstGeom prst="rect">
            <a:avLst/>
          </a:prstGeom>
          <a:noFill/>
          <a:ln/>
        </p:spPr>
        <p:txBody>
          <a:bodyPr wrap="square" lIns="0" tIns="0" rIns="0" bIns="0" rtlCol="0" anchor="ctr"/>
          <a:lstStyle/>
          <a:p>
            <a:pPr algn="l" indent="0" marL="0">
              <a:buNone/>
            </a:pPr>
            <a:r>
              <a:rPr lang="en-US" sz="2600" dirty="0">
                <a:solidFill>
                  <a:schemeClr val="tx1"/>
                </a:solidFill>
              </a:rPr>
              <a:t>Code: the amount spent</a:t>
            </a:r>
            <a:endParaRPr lang="en-US" sz="2600" dirty="0"/>
          </a:p>
        </p:txBody>
      </p:sp>
      <p:sp>
        <p:nvSpPr>
          <p:cNvPr id="3" name="Text 1"/>
          <p:cNvSpPr txBox="1"/>
          <p:nvPr/>
        </p:nvSpPr>
        <p:spPr>
          <a:xfrm>
            <a:off x="548640" y="1051560"/>
            <a:ext cx="8046720" cy="274320"/>
          </a:xfrm>
          <a:prstGeom prst="rect">
            <a:avLst/>
          </a:prstGeom>
          <a:noFill/>
          <a:ln/>
        </p:spPr>
        <p:txBody>
          <a:bodyPr wrap="square" lIns="0" tIns="0" rIns="0" bIns="0" rtlCol="0" anchor="t"/>
          <a:lstStyle/>
          <a:p>
            <a:pPr indent="0" marL="0">
              <a:buNone/>
            </a:pPr>
            <a:r>
              <a:rPr lang="en-US" sz="1400" dirty="0">
                <a:solidFill>
                  <a:schemeClr val="tx2"/>
                </a:solidFill>
              </a:rPr>
              <a:t>Bottom/top coding per type of place, then rounding to a few published values</a:t>
            </a:r>
            <a:endParaRPr lang="en-US" sz="1400" dirty="0"/>
          </a:p>
        </p:txBody>
      </p:sp>
      <p:sp>
        <p:nvSpPr>
          <p:cNvPr id="4" name="code spent background"/>
          <p:cNvSpPr/>
          <p:nvPr/>
        </p:nvSpPr>
        <p:spPr>
          <a:xfrm>
            <a:off x="548640" y="1463040"/>
            <a:ext cx="4480560" cy="2971800"/>
          </a:xfrm>
          <a:prstGeom prst="rect">
            <a:avLst/>
          </a:prstGeom>
          <a:solidFill>
            <a:srgbClr val="F4F4F4"/>
          </a:solidFill>
          <a:ln/>
        </p:spPr>
      </p:sp>
      <p:sp>
        <p:nvSpPr>
          <p:cNvPr id="5" name="code spent"/>
          <p:cNvSpPr txBox="1"/>
          <p:nvPr/>
        </p:nvSpPr>
        <p:spPr>
          <a:xfrm>
            <a:off x="731520" y="1600200"/>
            <a:ext cx="4114800" cy="2697480"/>
          </a:xfrm>
          <a:prstGeom prst="rect">
            <a:avLst/>
          </a:prstGeom>
          <a:noFill/>
          <a:ln/>
        </p:spPr>
        <p:txBody>
          <a:bodyPr wrap="square" lIns="0" tIns="0" rIns="0" bIns="0" rtlCol="0" anchor="ctr"/>
          <a:lstStyle/>
          <a:p>
            <a:pPr indent="0" marL="0">
              <a:lnSpc>
                <a:spcPct val="110000"/>
              </a:lnSpc>
              <a:buNone/>
            </a:pPr>
            <a:r>
              <a:rPr lang="en-US" sz="1100" dirty="0">
                <a:solidFill>
                  <a:srgbClr val="8A8A8A"/>
                </a:solidFill>
                <a:latin typeface="Courier New" pitchFamily="34" charset="0"/>
                <a:ea typeface="Courier New" pitchFamily="34" charset="-122"/>
                <a:cs typeface="Courier New" pitchFamily="34" charset="-120"/>
              </a:rPr>
              <a:t># anonymize_v4.py - bottom and top coding</a:t>
            </a:r>
            <a:endParaRPr lang="en-US" sz="1100" dirty="0"/>
          </a:p>
          <a:p>
            <a:pPr indent="0" marL="0">
              <a:lnSpc>
                <a:spcPct val="110000"/>
              </a:lnSpc>
              <a:buNone/>
            </a:pPr>
            <a:r>
              <a:rPr lang="en-US" sz="1100" dirty="0">
                <a:solidFill>
                  <a:srgbClr val="8A8A8A"/>
                </a:solidFill>
                <a:latin typeface="Courier New" pitchFamily="34" charset="0"/>
                <a:ea typeface="Courier New" pitchFamily="34" charset="-122"/>
                <a:cs typeface="Courier New" pitchFamily="34" charset="-120"/>
              </a:rPr>
              <a:t># at the 5%/95% quantiles</a:t>
            </a:r>
            <a:endParaRPr lang="en-US" sz="1100" dirty="0"/>
          </a:p>
          <a:p>
            <a:pPr indent="0" marL="0">
              <a:lnSpc>
                <a:spcPct val="110000"/>
              </a:lnSpc>
              <a:buNone/>
            </a:pPr>
            <a:r>
              <a:rPr lang="en-US" sz="1100" dirty="0">
                <a:solidFill>
                  <a:srgbClr val="222222"/>
                </a:solidFill>
                <a:latin typeface="Courier New" pitchFamily="34" charset="0"/>
                <a:ea typeface="Courier New" pitchFamily="34" charset="-122"/>
                <a:cs typeface="Courier New" pitchFamily="34" charset="-120"/>
              </a:rPr>
              <a:t>def clip_to_quantiles(spent, q05, q95):</a:t>
            </a:r>
            <a:endParaRPr lang="en-US" sz="1100" dirty="0"/>
          </a:p>
          <a:p>
            <a:pPr indent="0" marL="0">
              <a:lnSpc>
                <a:spcPct val="110000"/>
              </a:lnSpc>
              <a:buNone/>
            </a:pPr>
            <a:r>
              <a:rPr lang="en-US" sz="1100" dirty="0">
                <a:solidFill>
                  <a:srgbClr val="222222"/>
                </a:solidFill>
                <a:latin typeface="Courier New" pitchFamily="34" charset="0"/>
                <a:ea typeface="Courier New" pitchFamily="34" charset="-122"/>
                <a:cs typeface="Courier New" pitchFamily="34" charset="-120"/>
              </a:rPr>
              <a:t>    return min(max(spent, q05), q95)</a:t>
            </a:r>
            <a:endParaRPr lang="en-US" sz="1100" dirty="0"/>
          </a:p>
          <a:p>
            <a:pPr indent="0" marL="0">
              <a:lnSpc>
                <a:spcPct val="110000"/>
              </a:lnSpc>
              <a:buNone/>
            </a:pPr>
            <a:r>
              <a:rPr lang="en-US" sz="1100" dirty="0">
                <a:solidFill>
                  <a:srgbClr val="222222"/>
                </a:solidFill>
                <a:latin typeface="Courier New" pitchFamily="34" charset="0"/>
                <a:ea typeface="Courier New" pitchFamily="34" charset="-122"/>
                <a:cs typeface="Courier New" pitchFamily="34" charset="-120"/>
              </a:rPr>
              <a:t> </a:t>
            </a:r>
            <a:endParaRPr lang="en-US" sz="1100" dirty="0"/>
          </a:p>
          <a:p>
            <a:pPr indent="0" marL="0">
              <a:lnSpc>
                <a:spcPct val="110000"/>
              </a:lnSpc>
              <a:buNone/>
            </a:pPr>
            <a:r>
              <a:rPr lang="en-US" sz="1100" dirty="0">
                <a:solidFill>
                  <a:srgbClr val="8A8A8A"/>
                </a:solidFill>
                <a:latin typeface="Courier New" pitchFamily="34" charset="0"/>
                <a:ea typeface="Courier New" pitchFamily="34" charset="-122"/>
                <a:cs typeface="Courier New" pitchFamily="34" charset="-120"/>
              </a:rPr>
              <a:t># rounding on a ladder of published points</a:t>
            </a:r>
            <a:endParaRPr lang="en-US" sz="1100" dirty="0"/>
          </a:p>
          <a:p>
            <a:pPr indent="0" marL="0">
              <a:lnSpc>
                <a:spcPct val="110000"/>
              </a:lnSpc>
              <a:buNone/>
            </a:pPr>
            <a:r>
              <a:rPr lang="en-US" sz="1100" dirty="0">
                <a:solidFill>
                  <a:srgbClr val="222222"/>
                </a:solidFill>
                <a:latin typeface="Courier New" pitchFamily="34" charset="0"/>
                <a:ea typeface="Courier New" pitchFamily="34" charset="-122"/>
                <a:cs typeface="Courier New" pitchFamily="34" charset="-120"/>
              </a:rPr>
              <a:t>TIERS = [0, 5, 10, 25, 50, 100, 250,</a:t>
            </a:r>
            <a:endParaRPr lang="en-US" sz="1100" dirty="0"/>
          </a:p>
          <a:p>
            <a:pPr indent="0" marL="0">
              <a:lnSpc>
                <a:spcPct val="110000"/>
              </a:lnSpc>
              <a:buNone/>
            </a:pPr>
            <a:r>
              <a:rPr lang="en-US" sz="1100" dirty="0">
                <a:solidFill>
                  <a:srgbClr val="222222"/>
                </a:solidFill>
                <a:latin typeface="Courier New" pitchFamily="34" charset="0"/>
                <a:ea typeface="Courier New" pitchFamily="34" charset="-122"/>
                <a:cs typeface="Courier New" pitchFamily="34" charset="-120"/>
              </a:rPr>
              <a:t>         500, 1000, 2000, 5000, 10000]</a:t>
            </a:r>
            <a:endParaRPr lang="en-US" sz="1100" dirty="0"/>
          </a:p>
          <a:p>
            <a:pPr indent="0" marL="0">
              <a:lnSpc>
                <a:spcPct val="110000"/>
              </a:lnSpc>
              <a:buNone/>
            </a:pPr>
            <a:r>
              <a:rPr lang="en-US" sz="1100" dirty="0">
                <a:solidFill>
                  <a:srgbClr val="222222"/>
                </a:solidFill>
                <a:latin typeface="Courier New" pitchFamily="34" charset="0"/>
                <a:ea typeface="Courier New" pitchFamily="34" charset="-122"/>
                <a:cs typeface="Courier New" pitchFamily="34" charset="-120"/>
              </a:rPr>
              <a:t>def round_to_tier(spent):</a:t>
            </a:r>
            <a:endParaRPr lang="en-US" sz="1100" dirty="0"/>
          </a:p>
          <a:p>
            <a:pPr indent="0" marL="0">
              <a:lnSpc>
                <a:spcPct val="110000"/>
              </a:lnSpc>
              <a:buNone/>
            </a:pPr>
            <a:r>
              <a:rPr lang="en-US" sz="1100" dirty="0">
                <a:solidFill>
                  <a:srgbClr val="222222"/>
                </a:solidFill>
                <a:latin typeface="Courier New" pitchFamily="34" charset="0"/>
                <a:ea typeface="Courier New" pitchFamily="34" charset="-122"/>
                <a:cs typeface="Courier New" pitchFamily="34" charset="-120"/>
              </a:rPr>
              <a:t>    return min(TIERS,</a:t>
            </a:r>
            <a:endParaRPr lang="en-US" sz="1100" dirty="0"/>
          </a:p>
          <a:p>
            <a:pPr indent="0" marL="0">
              <a:lnSpc>
                <a:spcPct val="110000"/>
              </a:lnSpc>
              <a:buNone/>
            </a:pPr>
            <a:r>
              <a:rPr lang="en-US" sz="1100" dirty="0">
                <a:solidFill>
                  <a:srgbClr val="222222"/>
                </a:solidFill>
                <a:latin typeface="Courier New" pitchFamily="34" charset="0"/>
                <a:ea typeface="Courier New" pitchFamily="34" charset="-122"/>
                <a:cs typeface="Courier New" pitchFamily="34" charset="-120"/>
              </a:rPr>
              <a:t>               key=lambda t: abs(spent - t))</a:t>
            </a:r>
            <a:endParaRPr lang="en-US" sz="1100" dirty="0"/>
          </a:p>
        </p:txBody>
      </p:sp>
      <p:pic>
        <p:nvPicPr>
          <p:cNvPr id="6" name="spent figure" descr="/mnt/user-data/uploads/PPIA_HW1/figures/07_spent.png">    </p:cNvPr>
          <p:cNvPicPr>
            <a:picLocks noChangeAspect="1"/>
          </p:cNvPicPr>
          <p:nvPr/>
        </p:nvPicPr>
        <p:blipFill>
          <a:blip r:embed="rId1"/>
          <a:stretch>
            <a:fillRect/>
          </a:stretch>
        </p:blipFill>
        <p:spPr>
          <a:xfrm>
            <a:off x="5303520" y="1417320"/>
            <a:ext cx="3291840" cy="1975104"/>
          </a:xfrm>
          <a:prstGeom prst="rect">
            <a:avLst/>
          </a:prstGeom>
        </p:spPr>
      </p:pic>
      <p:sp>
        <p:nvSpPr>
          <p:cNvPr id="7" name="Text 4"/>
          <p:cNvSpPr txBox="1"/>
          <p:nvPr/>
        </p:nvSpPr>
        <p:spPr>
          <a:xfrm>
            <a:off x="5303520" y="3429000"/>
            <a:ext cx="3291840" cy="228600"/>
          </a:xfrm>
          <a:prstGeom prst="rect">
            <a:avLst/>
          </a:prstGeom>
          <a:noFill/>
          <a:ln/>
        </p:spPr>
        <p:txBody>
          <a:bodyPr wrap="square" lIns="0" tIns="0" rIns="0" bIns="0" rtlCol="0" anchor="t"/>
          <a:lstStyle/>
          <a:p>
            <a:pPr indent="0" marL="0">
              <a:buNone/>
            </a:pPr>
            <a:r>
              <a:rPr lang="en-US" sz="1000" i="1" dirty="0">
                <a:solidFill>
                  <a:schemeClr val="tx2"/>
                </a:solidFill>
              </a:rPr>
              <a:t>Before: synthetic amount spent (log scale)</a:t>
            </a:r>
            <a:endParaRPr lang="en-US" sz="1000" dirty="0"/>
          </a:p>
        </p:txBody>
      </p:sp>
      <p:sp>
        <p:nvSpPr>
          <p:cNvPr id="8" name="Text 5"/>
          <p:cNvSpPr txBox="1"/>
          <p:nvPr/>
        </p:nvSpPr>
        <p:spPr>
          <a:xfrm>
            <a:off x="5303520" y="3749040"/>
            <a:ext cx="3291840" cy="640080"/>
          </a:xfrm>
          <a:prstGeom prst="rect">
            <a:avLst/>
          </a:prstGeom>
          <a:noFill/>
          <a:ln/>
        </p:spPr>
        <p:txBody>
          <a:bodyPr wrap="square" lIns="0" tIns="0" rIns="0" bIns="0" rtlCol="0" anchor="t"/>
          <a:lstStyle/>
          <a:p>
            <a:pPr indent="0" marL="0">
              <a:buNone/>
            </a:pPr>
            <a:r>
              <a:rPr lang="en-US" sz="1300" b="1" dirty="0">
                <a:solidFill>
                  <a:schemeClr val="tx1"/>
                </a:solidFill>
              </a:rPr>
              <a:t>After: </a:t>
            </a:r>
            <a:r>
              <a:rPr lang="en-US" sz="1300" dirty="0">
                <a:solidFill>
                  <a:schemeClr val="tx1"/>
                </a:solidFill>
              </a:rPr>
              <a:t>7 values ($0, 10, 25, 50, 100, 250, 500); median relative error 19.2%</a:t>
            </a:r>
            <a:endParaRPr lang="en-US" sz="13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594360"/>
          </a:xfrm>
          <a:prstGeom prst="rect">
            <a:avLst/>
          </a:prstGeom>
          <a:noFill/>
          <a:ln/>
        </p:spPr>
        <p:txBody>
          <a:bodyPr wrap="square" lIns="0" tIns="0" rIns="0" bIns="0" rtlCol="0" anchor="ctr"/>
          <a:lstStyle/>
          <a:p>
            <a:pPr algn="l" indent="0" marL="0">
              <a:buNone/>
            </a:pPr>
            <a:r>
              <a:rPr lang="en-US" sz="2600" dirty="0">
                <a:solidFill>
                  <a:schemeClr val="tx1"/>
                </a:solidFill>
              </a:rPr>
              <a:t>Code: k-anonymity on the place (k = 5)</a:t>
            </a:r>
            <a:endParaRPr lang="en-US" sz="2600" dirty="0"/>
          </a:p>
        </p:txBody>
      </p:sp>
      <p:sp>
        <p:nvSpPr>
          <p:cNvPr id="3" name="Text 1"/>
          <p:cNvSpPr txBox="1"/>
          <p:nvPr/>
        </p:nvSpPr>
        <p:spPr>
          <a:xfrm>
            <a:off x="548640" y="1051560"/>
            <a:ext cx="8046720" cy="274320"/>
          </a:xfrm>
          <a:prstGeom prst="rect">
            <a:avLst/>
          </a:prstGeom>
          <a:noFill/>
          <a:ln/>
        </p:spPr>
        <p:txBody>
          <a:bodyPr wrap="square" lIns="0" tIns="0" rIns="0" bIns="0" rtlCol="0" anchor="t"/>
          <a:lstStyle/>
          <a:p>
            <a:pPr indent="0" marL="0">
              <a:buNone/>
            </a:pPr>
            <a:r>
              <a:rPr lang="en-US" sz="1400" dirty="0">
                <a:solidFill>
                  <a:schemeClr val="tx2"/>
                </a:solidFill>
              </a:rPr>
              <a:t>gmap_id is replaced by the place's categories; every published group must contain at least 5 reviews</a:t>
            </a:r>
            <a:endParaRPr lang="en-US" sz="1400" dirty="0"/>
          </a:p>
        </p:txBody>
      </p:sp>
      <p:sp>
        <p:nvSpPr>
          <p:cNvPr id="4" name="code kanon background"/>
          <p:cNvSpPr/>
          <p:nvPr/>
        </p:nvSpPr>
        <p:spPr>
          <a:xfrm>
            <a:off x="548640" y="1463040"/>
            <a:ext cx="8046720" cy="1920240"/>
          </a:xfrm>
          <a:prstGeom prst="rect">
            <a:avLst/>
          </a:prstGeom>
          <a:solidFill>
            <a:srgbClr val="F4F4F4"/>
          </a:solidFill>
          <a:ln/>
        </p:spPr>
      </p:sp>
      <p:sp>
        <p:nvSpPr>
          <p:cNvPr id="5" name="code kanon"/>
          <p:cNvSpPr txBox="1"/>
          <p:nvPr/>
        </p:nvSpPr>
        <p:spPr>
          <a:xfrm>
            <a:off x="731520" y="1600200"/>
            <a:ext cx="7680960" cy="1645920"/>
          </a:xfrm>
          <a:prstGeom prst="rect">
            <a:avLst/>
          </a:prstGeom>
          <a:noFill/>
          <a:ln/>
        </p:spPr>
        <p:txBody>
          <a:bodyPr wrap="square" lIns="0" tIns="0" rIns="0" bIns="0" rtlCol="0" anchor="ctr"/>
          <a:lstStyle/>
          <a:p>
            <a:pPr indent="0" marL="0">
              <a:lnSpc>
                <a:spcPct val="110000"/>
              </a:lnSpc>
              <a:buNone/>
            </a:pPr>
            <a:r>
              <a:rPr lang="en-US" sz="1200" dirty="0">
                <a:solidFill>
                  <a:srgbClr val="8A8A8A"/>
                </a:solidFill>
                <a:latin typeface="Courier New" pitchFamily="34" charset="0"/>
                <a:ea typeface="Courier New" pitchFamily="34" charset="-122"/>
                <a:cs typeface="Courier New" pitchFamily="34" charset="-120"/>
              </a:rPr>
              <a:t># kanonymity.py - generalize first, suppress the cell as a last resort</a:t>
            </a:r>
            <a:endParaRPr lang="en-US" sz="1200" dirty="0"/>
          </a:p>
          <a:p>
            <a:pPr indent="0" marL="0">
              <a:lnSpc>
                <a:spcPct val="110000"/>
              </a:lnSpc>
              <a:buNone/>
            </a:pPr>
            <a:r>
              <a:rPr lang="en-US" sz="1200" dirty="0">
                <a:solidFill>
                  <a:srgbClr val="222222"/>
                </a:solidFill>
                <a:latin typeface="Courier New" pitchFamily="34" charset="0"/>
                <a:ea typeface="Courier New" pitchFamily="34" charset="-122"/>
                <a:cs typeface="Courier New" pitchFamily="34" charset="-120"/>
              </a:rPr>
              <a:t>if tuple_rows[category_key(cats)] &gt;= k:    </a:t>
            </a:r>
            <a:r>
              <a:rPr lang="en-US" sz="1200" dirty="0">
                <a:solidFill>
                  <a:srgbClr val="8A8A8A"/>
                </a:solidFill>
                <a:latin typeface="Courier New" pitchFamily="34" charset="0"/>
                <a:ea typeface="Courier New" pitchFamily="34" charset="-122"/>
                <a:cs typeface="Courier New" pitchFamily="34" charset="-120"/>
              </a:rPr>
              <a:t># full category list</a:t>
            </a:r>
            <a:endParaRPr lang="en-US" sz="1200" dirty="0"/>
          </a:p>
          <a:p>
            <a:pPr indent="0" marL="0">
              <a:lnSpc>
                <a:spcPct val="110000"/>
              </a:lnSpc>
              <a:buNone/>
            </a:pPr>
            <a:r>
              <a:rPr lang="en-US" sz="1200" dirty="0">
                <a:solidFill>
                  <a:srgbClr val="222222"/>
                </a:solidFill>
                <a:latin typeface="Courier New" pitchFamily="34" charset="0"/>
                <a:ea typeface="Courier New" pitchFamily="34" charset="-122"/>
                <a:cs typeface="Courier New" pitchFamily="34" charset="-120"/>
              </a:rPr>
              <a:t>    groups[g] = (sorted(cats), 0)</a:t>
            </a:r>
            <a:endParaRPr lang="en-US" sz="1200" dirty="0"/>
          </a:p>
          <a:p>
            <a:pPr indent="0" marL="0">
              <a:lnSpc>
                <a:spcPct val="110000"/>
              </a:lnSpc>
              <a:buNone/>
            </a:pPr>
            <a:r>
              <a:rPr lang="en-US" sz="1200" dirty="0">
                <a:solidFill>
                  <a:srgbClr val="222222"/>
                </a:solidFill>
                <a:latin typeface="Courier New" pitchFamily="34" charset="0"/>
                <a:ea typeface="Courier New" pitchFamily="34" charset="-122"/>
                <a:cs typeface="Courier New" pitchFamily="34" charset="-120"/>
              </a:rPr>
              <a:t>elif first_rows[cats[0]] &gt;= k:             </a:t>
            </a:r>
            <a:r>
              <a:rPr lang="en-US" sz="1200" dirty="0">
                <a:solidFill>
                  <a:srgbClr val="8A8A8A"/>
                </a:solidFill>
                <a:latin typeface="Courier New" pitchFamily="34" charset="0"/>
                <a:ea typeface="Courier New" pitchFamily="34" charset="-122"/>
                <a:cs typeface="Courier New" pitchFamily="34" charset="-120"/>
              </a:rPr>
              <a:t># first category only</a:t>
            </a:r>
            <a:endParaRPr lang="en-US" sz="1200" dirty="0"/>
          </a:p>
          <a:p>
            <a:pPr indent="0" marL="0">
              <a:lnSpc>
                <a:spcPct val="110000"/>
              </a:lnSpc>
              <a:buNone/>
            </a:pPr>
            <a:r>
              <a:rPr lang="en-US" sz="1200" dirty="0">
                <a:solidFill>
                  <a:srgbClr val="222222"/>
                </a:solidFill>
                <a:latin typeface="Courier New" pitchFamily="34" charset="0"/>
                <a:ea typeface="Courier New" pitchFamily="34" charset="-122"/>
                <a:cs typeface="Courier New" pitchFamily="34" charset="-120"/>
              </a:rPr>
              <a:t>    groups[g] = ([cats[0]], 1)</a:t>
            </a:r>
            <a:endParaRPr lang="en-US" sz="1200" dirty="0"/>
          </a:p>
          <a:p>
            <a:pPr indent="0" marL="0">
              <a:lnSpc>
                <a:spcPct val="110000"/>
              </a:lnSpc>
              <a:buNone/>
            </a:pPr>
            <a:r>
              <a:rPr lang="en-US" sz="1200" dirty="0">
                <a:solidFill>
                  <a:srgbClr val="222222"/>
                </a:solidFill>
                <a:latin typeface="Courier New" pitchFamily="34" charset="0"/>
                <a:ea typeface="Courier New" pitchFamily="34" charset="-122"/>
                <a:cs typeface="Courier New" pitchFamily="34" charset="-120"/>
              </a:rPr>
              <a:t>else:                                      </a:t>
            </a:r>
            <a:r>
              <a:rPr lang="en-US" sz="1200" dirty="0">
                <a:solidFill>
                  <a:srgbClr val="8A8A8A"/>
                </a:solidFill>
                <a:latin typeface="Courier New" pitchFamily="34" charset="0"/>
                <a:ea typeface="Courier New" pitchFamily="34" charset="-122"/>
                <a:cs typeface="Courier New" pitchFamily="34" charset="-120"/>
              </a:rPr>
              <a:t># local suppression</a:t>
            </a:r>
            <a:endParaRPr lang="en-US" sz="1200" dirty="0"/>
          </a:p>
          <a:p>
            <a:pPr indent="0" marL="0">
              <a:lnSpc>
                <a:spcPct val="110000"/>
              </a:lnSpc>
              <a:buNone/>
            </a:pPr>
            <a:r>
              <a:rPr lang="en-US" sz="1200" dirty="0">
                <a:solidFill>
                  <a:srgbClr val="222222"/>
                </a:solidFill>
                <a:latin typeface="Courier New" pitchFamily="34" charset="0"/>
                <a:ea typeface="Courier New" pitchFamily="34" charset="-122"/>
                <a:cs typeface="Courier New" pitchFamily="34" charset="-120"/>
              </a:rPr>
              <a:t>    groups[g] = (None, 2)</a:t>
            </a:r>
            <a:endParaRPr lang="en-US" sz="1200" dirty="0"/>
          </a:p>
        </p:txBody>
      </p:sp>
      <p:sp>
        <p:nvSpPr>
          <p:cNvPr id="6" name="Text 4"/>
          <p:cNvSpPr txBox="1"/>
          <p:nvPr/>
        </p:nvSpPr>
        <p:spPr>
          <a:xfrm>
            <a:off x="548640" y="3566160"/>
            <a:ext cx="8046720" cy="1005840"/>
          </a:xfrm>
          <a:prstGeom prst="rect">
            <a:avLst/>
          </a:prstGeom>
          <a:noFill/>
          <a:ln/>
        </p:spPr>
        <p:txBody>
          <a:bodyPr wrap="square" lIns="0" tIns="0" rIns="0" bIns="0" rtlCol="0" anchor="t"/>
          <a:lstStyle/>
          <a:p>
            <a:pPr marL="342900" indent="-342900">
              <a:spcAft>
                <a:spcPts val="500"/>
              </a:spcAft>
              <a:buSzPct val="100000"/>
              <a:buChar char="•"/>
            </a:pPr>
            <a:r>
              <a:rPr lang="en-US" sz="1400" b="1" dirty="0">
                <a:solidFill>
                  <a:schemeClr val="tx1"/>
                </a:solidFill>
              </a:rPr>
              <a:t>99.85%</a:t>
            </a:r>
            <a:r>
              <a:rPr lang="en-US" sz="1400" dirty="0">
                <a:solidFill>
                  <a:schemeClr val="tx1"/>
                </a:solidFill>
              </a:rPr>
              <a:t> of reviews keep their full category list</a:t>
            </a:r>
            <a:endParaRPr lang="en-US" sz="1400" dirty="0"/>
          </a:p>
          <a:p>
            <a:pPr marL="342900" indent="-342900">
              <a:spcAft>
                <a:spcPts val="500"/>
              </a:spcAft>
              <a:buSzPct val="100000"/>
              <a:buChar char="•"/>
            </a:pPr>
            <a:r>
              <a:rPr lang="en-US" sz="1400" b="1" dirty="0">
                <a:solidFill>
                  <a:schemeClr val="tx1"/>
                </a:solidFill>
              </a:rPr>
              <a:t>1,031</a:t>
            </a:r>
            <a:r>
              <a:rPr lang="en-US" sz="1400" dirty="0">
                <a:solidFill>
                  <a:schemeClr val="tx1"/>
                </a:solidFill>
              </a:rPr>
              <a:t> reviews lose the place information (incl. 192 places with no category)</a:t>
            </a:r>
            <a:endParaRPr lang="en-US" sz="1400" dirty="0"/>
          </a:p>
          <a:p>
            <a:pPr marL="342900" indent="-342900">
              <a:spcAft>
                <a:spcPts val="500"/>
              </a:spcAft>
              <a:buSzPct val="100000"/>
              <a:buChar char="•"/>
            </a:pPr>
            <a:r>
              <a:rPr lang="en-US" sz="1400" b="1" dirty="0">
                <a:solidFill>
                  <a:schemeClr val="tx1"/>
                </a:solidFill>
              </a:rPr>
              <a:t>0</a:t>
            </a:r>
            <a:r>
              <a:rPr lang="en-US" sz="1400" dirty="0">
                <a:solidFill>
                  <a:schemeClr val="tx1"/>
                </a:solidFill>
              </a:rPr>
              <a:t> reviews deleted; the smallest published group has exactly 5 reviews</a:t>
            </a:r>
            <a:endParaRPr lang="en-US" sz="14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594360"/>
          </a:xfrm>
          <a:prstGeom prst="rect">
            <a:avLst/>
          </a:prstGeom>
          <a:noFill/>
          <a:ln/>
        </p:spPr>
        <p:txBody>
          <a:bodyPr wrap="square" lIns="0" tIns="0" rIns="0" bIns="0" rtlCol="0" anchor="ctr"/>
          <a:lstStyle/>
          <a:p>
            <a:pPr algn="l" indent="0" marL="0">
              <a:buNone/>
            </a:pPr>
            <a:r>
              <a:rPr lang="en-US" sz="2600" dirty="0">
                <a:solidFill>
                  <a:schemeClr val="tx1"/>
                </a:solidFill>
              </a:rPr>
              <a:t>Conclusions and open questions</a:t>
            </a:r>
            <a:endParaRPr lang="en-US" sz="2600" dirty="0"/>
          </a:p>
        </p:txBody>
      </p:sp>
      <p:sp>
        <p:nvSpPr>
          <p:cNvPr id="3" name="Text 1"/>
          <p:cNvSpPr txBox="1"/>
          <p:nvPr/>
        </p:nvSpPr>
        <p:spPr>
          <a:xfrm>
            <a:off x="548640" y="1143000"/>
            <a:ext cx="3474720" cy="320040"/>
          </a:xfrm>
          <a:prstGeom prst="rect">
            <a:avLst/>
          </a:prstGeom>
          <a:noFill/>
          <a:ln/>
        </p:spPr>
        <p:txBody>
          <a:bodyPr wrap="square" lIns="0" tIns="0" rIns="0" bIns="0" rtlCol="0" anchor="t"/>
          <a:lstStyle/>
          <a:p>
            <a:pPr indent="0" marL="0">
              <a:buNone/>
            </a:pPr>
            <a:r>
              <a:rPr lang="en-US" sz="1600" b="1" dirty="0">
                <a:solidFill>
                  <a:schemeClr val="accent1"/>
                </a:solidFill>
              </a:rPr>
              <a:t>Summary</a:t>
            </a:r>
            <a:endParaRPr lang="en-US" sz="1600" dirty="0"/>
          </a:p>
        </p:txBody>
      </p:sp>
      <p:sp>
        <p:nvSpPr>
          <p:cNvPr id="4" name="Text 2"/>
          <p:cNvSpPr txBox="1"/>
          <p:nvPr/>
        </p:nvSpPr>
        <p:spPr>
          <a:xfrm>
            <a:off x="548640" y="1554480"/>
            <a:ext cx="3749040" cy="237744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chemeClr val="tx1"/>
                </a:solidFill>
              </a:rPr>
              <a:t>All reviews kept, direct link to the reviewer removed</a:t>
            </a:r>
            <a:endParaRPr lang="en-US" sz="1500" dirty="0"/>
          </a:p>
          <a:p>
            <a:pPr marL="342900" indent="-342900">
              <a:spcAft>
                <a:spcPts val="900"/>
              </a:spcAft>
              <a:buSzPct val="100000"/>
              <a:buChar char="•"/>
            </a:pPr>
            <a:r>
              <a:rPr lang="en-US" sz="1500" dirty="0">
                <a:solidFill>
                  <a:schemeClr val="tx1"/>
                </a:solidFill>
              </a:rPr>
              <a:t>Ratings, time trends, spending and owner activity can still be analysed</a:t>
            </a:r>
            <a:endParaRPr lang="en-US" sz="1500" dirty="0"/>
          </a:p>
          <a:p>
            <a:pPr marL="342900" indent="-342900">
              <a:spcAft>
                <a:spcPts val="900"/>
              </a:spcAft>
              <a:buSzPct val="100000"/>
              <a:buChar char="•"/>
            </a:pPr>
            <a:r>
              <a:rPr lang="en-US" sz="1500" dirty="0">
                <a:solidFill>
                  <a:schemeClr val="tx1"/>
                </a:solidFill>
              </a:rPr>
              <a:t>Next steps: ℓ-diversity and t-closeness</a:t>
            </a:r>
            <a:endParaRPr lang="en-US" sz="1500" dirty="0"/>
          </a:p>
        </p:txBody>
      </p:sp>
      <p:sp>
        <p:nvSpPr>
          <p:cNvPr id="5" name="Text 3"/>
          <p:cNvSpPr txBox="1"/>
          <p:nvPr/>
        </p:nvSpPr>
        <p:spPr>
          <a:xfrm>
            <a:off x="4480560" y="1143000"/>
            <a:ext cx="4114800" cy="320040"/>
          </a:xfrm>
          <a:prstGeom prst="rect">
            <a:avLst/>
          </a:prstGeom>
          <a:noFill/>
          <a:ln/>
        </p:spPr>
        <p:txBody>
          <a:bodyPr wrap="square" lIns="0" tIns="0" rIns="0" bIns="0" rtlCol="0" anchor="t"/>
          <a:lstStyle/>
          <a:p>
            <a:pPr indent="0" marL="0">
              <a:buNone/>
            </a:pPr>
            <a:r>
              <a:rPr lang="en-US" sz="1600" b="1" dirty="0">
                <a:solidFill>
                  <a:schemeClr val="accent1"/>
                </a:solidFill>
              </a:rPr>
              <a:t>Open questions</a:t>
            </a:r>
            <a:endParaRPr lang="en-US" sz="1600" dirty="0"/>
          </a:p>
        </p:txBody>
      </p:sp>
      <p:sp>
        <p:nvSpPr>
          <p:cNvPr id="6" name="Text 4"/>
          <p:cNvSpPr txBox="1"/>
          <p:nvPr/>
        </p:nvSpPr>
        <p:spPr>
          <a:xfrm>
            <a:off x="4480560" y="1554480"/>
            <a:ext cx="4114800" cy="2743200"/>
          </a:xfrm>
          <a:prstGeom prst="rect">
            <a:avLst/>
          </a:prstGeom>
          <a:noFill/>
          <a:ln/>
        </p:spPr>
        <p:txBody>
          <a:bodyPr wrap="square" lIns="0" tIns="0" rIns="0" bIns="0" rtlCol="0" anchor="t"/>
          <a:lstStyle/>
          <a:p>
            <a:pPr marL="342900" indent="-342900">
              <a:spcAft>
                <a:spcPts val="900"/>
              </a:spcAft>
              <a:buSzPct val="100000"/>
              <a:buFont typeface="+mj-lt"/>
              <a:buAutoNum type="arabicPeriod" startAt="1"/>
            </a:pPr>
            <a:r>
              <a:rPr lang="en-US" sz="1400" dirty="0">
                <a:solidFill>
                  <a:schemeClr val="tx1"/>
                </a:solidFill>
              </a:rPr>
              <a:t>On month + category + rating + spent together, only 48% of reviews are in a group of ≥ 5. Should k-anonymity cover all quasi-identifiers at once?</a:t>
            </a:r>
            <a:endParaRPr lang="en-US" sz="1400" dirty="0"/>
          </a:p>
          <a:p>
            <a:pPr marL="342900" indent="-342900">
              <a:spcAft>
                <a:spcPts val="900"/>
              </a:spcAft>
              <a:buSzPct val="100000"/>
              <a:buFont typeface="+mj-lt"/>
              <a:buAutoNum type="arabicPeriod" startAt="1"/>
            </a:pPr>
            <a:r>
              <a:rPr lang="en-US" sz="1400" dirty="0">
                <a:solidFill>
                  <a:schemeClr val="tx1"/>
                </a:solidFill>
              </a:rPr>
              <a:t>A group of only health or religious places still reveals that fact. Is ℓ-diversity a must here?</a:t>
            </a:r>
            <a:endParaRPr lang="en-US" sz="1400" dirty="0"/>
          </a:p>
          <a:p>
            <a:pPr marL="342900" indent="-342900">
              <a:spcAft>
                <a:spcPts val="900"/>
              </a:spcAft>
              <a:buSzPct val="100000"/>
              <a:buFont typeface="+mj-lt"/>
              <a:buAutoNum type="arabicPeriod" startAt="1"/>
            </a:pPr>
            <a:r>
              <a:rPr lang="en-US" sz="1400" dirty="0">
                <a:solidFill>
                  <a:schemeClr val="tx1"/>
                </a:solidFill>
              </a:rPr>
              <a:t>Would an LLM sentiment score keep more utility than the length class, and still be safe?</a:t>
            </a:r>
            <a:endParaRPr lang="en-US" sz="1400" dirty="0"/>
          </a:p>
        </p:txBody>
      </p:sp>
      <p:sp>
        <p:nvSpPr>
          <p:cNvPr id="7" name="Text 5"/>
          <p:cNvSpPr txBox="1"/>
          <p:nvPr/>
        </p:nvSpPr>
        <p:spPr>
          <a:xfrm>
            <a:off x="548640" y="4069080"/>
            <a:ext cx="3474720" cy="411480"/>
          </a:xfrm>
          <a:prstGeom prst="rect">
            <a:avLst/>
          </a:prstGeom>
          <a:noFill/>
          <a:ln/>
        </p:spPr>
        <p:txBody>
          <a:bodyPr wrap="square" lIns="0" tIns="0" rIns="0" bIns="0" rtlCol="0" anchor="t"/>
          <a:lstStyle/>
          <a:p>
            <a:pPr indent="0" marL="0">
              <a:buNone/>
            </a:pPr>
            <a:r>
              <a:rPr lang="en-US" sz="2000" i="1" dirty="0">
                <a:solidFill>
                  <a:schemeClr val="tx1"/>
                </a:solidFill>
                <a:latin typeface="Georgia" pitchFamily="34" charset="0"/>
                <a:ea typeface="Georgia" pitchFamily="34" charset="-122"/>
                <a:cs typeface="Georgia" pitchFamily="34" charset="-120"/>
              </a:rPr>
              <a:t>Thank you!</a:t>
            </a:r>
            <a:endParaRPr lang="en-US" sz="20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PPIA HW1 plain">
  <a:themeElements>
    <a:clrScheme name="PPIA HW1 plain">
      <a:dk1>
        <a:srgbClr val="222222"/>
      </a:dk1>
      <a:lt1>
        <a:srgbClr val="FFFFFF"/>
      </a:lt1>
      <a:dk2>
        <a:srgbClr val="666666"/>
      </a:dk2>
      <a:lt2>
        <a:srgbClr val="F4F4F4"/>
      </a:lt2>
      <a:accent1>
        <a:srgbClr val="9B0014"/>
      </a:accent1>
      <a:accent2>
        <a:srgbClr val="44546A"/>
      </a:accent2>
      <a:accent3>
        <a:srgbClr val="7F7F7F"/>
      </a:accent3>
      <a:accent4>
        <a:srgbClr val="A5A5A5"/>
      </a:accent4>
      <a:accent5>
        <a:srgbClr val="5B6B7F"/>
      </a:accent5>
      <a:accent6>
        <a:srgbClr val="B0B7BF"/>
      </a:accent6>
      <a:hlink>
        <a:srgbClr val="9B0014"/>
      </a:hlink>
      <a:folHlink>
        <a:srgbClr val="7F7F7F"/>
      </a:folHlink>
    </a:clrScheme>
    <a:fontScheme name="PPIA HW1 plai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Anonymizing the Google Local Reviews Dataset</dc:title>
  <dc:subject>PptxGenJS Presentation</dc:subject>
  <dc:creator>Group 5</dc:creator>
  <cp:lastModifiedBy>Group 5</cp:lastModifiedBy>
  <cp:revision>1</cp:revision>
  <dcterms:created xsi:type="dcterms:W3CDTF">2026-10-20T16:43:36Z</dcterms:created>
  <dcterms:modified xsi:type="dcterms:W3CDTF">2026-10-20T16:43:36Z</dcterms:modified>
</cp:coreProperties>
</file>