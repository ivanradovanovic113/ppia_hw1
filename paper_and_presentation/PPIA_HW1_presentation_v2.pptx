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FB6092F-2712-55A9-5834-085BD5F8A406}">
          <p14:sldIdLst>
            <p14:sldId id="256"/>
          </p14:sldIdLst>
        </p14:section>
        <p14:section name="Setting and data" id="{0C712505-A85E-B39A-96BD-F19FE0C18236}">
          <p14:sldIdLst>
            <p14:sldId id="257"/>
            <p14:sldId id="258"/>
            <p14:sldId id="259"/>
          </p14:sldIdLst>
        </p14:section>
        <p14:section name="Utility" id="{8F36AE58-4B0B-669E-5125-205B0DC8495C}">
          <p14:sldIdLst>
            <p14:sldId id="260"/>
          </p14:sldIdLst>
        </p14:section>
        <p14:section name="Anonymization" id="{6A39AC03-9AB2-A041-9921-1648D40DDDA9}">
          <p14:sldIdLst>
            <p14:sldId id="261"/>
            <p14:sldId id="262"/>
            <p14:sldId id="263"/>
          </p14:sldIdLst>
        </p14:section>
        <p14:section name="Conclusions" id="{EBC82608-D12F-8C52-6CCB-909D4C345E74}">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4" d="100"/>
          <a:sy n="214" d="100"/>
        </p:scale>
        <p:origin x="2802"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7972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Hi, we are group 5: Ivan, Laszlo and Maxime. Our homework is about anonymizing the Google Local Reviews dataset, so that it can be published for research without exposing the people who wrote the reviews.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We used the Google Local Reviews dataset: public Google Maps reviews up to 2021. We took Vermont: almost 842 thousand reviews, 288 thousand users, 11 thousand places, and we added one synthetic attribute, the amount spent, to have a financial value to protect. Why is this risky? Two thirds of the users wrote just one review, a third of the places have fewer than ten, and every timestamp is unique. So knowing the place and roughly when someone was there is often enough to find their review. Our goal: release the data for research while the reviewers stay private.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This is how we classified the attributes. Name and user_id are direct identifiers and are removed. The quasi-identifiers are everything an attacker can know or see on the public review: the date, the place, the rating, how long the review and the reply are, the number of photos, and whether and when the owner replied. The sensitive attributes are the texts, which we remove, and the amount spent. Note that spent is not a quasi-identifier: it is synthetic, so no attacker can know it in advance. It is what an attacker would want to learn.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Once the data is public, anyone can download it: data brokers, advertisers, insurers, employers, or simply someone who knows the victim. The attack is record linkage. The user_id leads to the public profile. Name, town and month can be matched with social networks. And place, date and rating can be matched with the public review itself. The attacker only gets stronger over time, while a released copy can never be taken back.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As our utility measure we asked: is the length of a review related to its rating? Clearly yes: very long reviews are negative about 31% of the time, short ones only about 5%. We publish the length in five classes, and after the whole anonymization the numbers barely move, from 31.0 to 30.7%. So this finding survives.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Our first approach applied k = 5 only to the place categories, and every place group had at least five reviews, so it looked fine. But k-anonymity is about the combination. When we check all the quasi-identifiers together on the published data, only 35% of reviews are in a group of at least five, and 40% are completely unique. The main reasons are the categories, there are 3,807 different lists, plus exact months and exact reply delays.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The new script works in two steps. Step one generalizes every review: the 3,807 category lists become 12 broad groups like food, lodging or health, the month becomes the quarter, photos are capped at three, and lengths and reply delays go into five classes each. Step two handles the few reviews that are still in a group smaller than k: it nulls one field at a time, starting with the least useful one, the reply delay, then photos, and so on, and stops as soon as the review is covered.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Here are the results. On the published data only 35% of reviews were 5-anonymous. After step one, the generalization, already 94%. After step two, the suppression, 100%, for every combination of quasi-identifiers. To get there we changed 1.7% of the values, mostly reply delays and photo counts, and we had to remove only 4 reviews out of 842 thousand. The script re-reads the written file at the end and confirms that the smallest group has exactly five reviews.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To conclude: the released data is 5-anonymous on all quasi-identifiers together, we kept all but four reviews, and the utility we measured is unchanged. Next steps would be l-diversity on the amount spent, and t-closeness. Three questions for you. First: is k = 5 the right choice? With k = 3 we would change 4% of reviews instead of 6%; how do you choose k for data that goes public? Second: a group made only of health or religious places still reveals that fact; is l-diversity a must? Third: could an LLM sentiment score replace the length class safely?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594360"/>
          </a:xfrm>
          <a:prstGeom prst="rect">
            <a:avLst/>
          </a:prstGeom>
          <a:noFill/>
          <a:ln/>
        </p:spPr>
        <p:txBody>
          <a:bodyPr wrap="square" rtlCol="0"/>
          <a:lstStyle>
            <a:lvl1pPr marL="0" indent="0" algn="l">
              <a:buNone/>
              <a:defRPr lang="en-US" sz="2600" dirty="0">
                <a:solidFill>
                  <a:schemeClr val="tx1"/>
                </a:solidFill>
              </a:defRPr>
            </a:lvl1pPr>
          </a:lstStyle>
          <a:p>
            <a:pPr marL="0" indent="0" algn="l">
              <a:buNone/>
            </a:pPr>
            <a:endParaRPr lang="en-US" sz="2600" dirty="0"/>
          </a:p>
        </p:txBody>
      </p:sp>
      <p:sp>
        <p:nvSpPr>
          <p:cNvPr id="3" name="Text 0"/>
          <p:cNvSpPr/>
          <p:nvPr/>
        </p:nvSpPr>
        <p:spPr>
          <a:xfrm>
            <a:off x="548640" y="4754880"/>
            <a:ext cx="3657600" cy="228600"/>
          </a:xfrm>
          <a:prstGeom prst="rect">
            <a:avLst/>
          </a:prstGeom>
          <a:noFill/>
          <a:ln/>
        </p:spPr>
        <p:txBody>
          <a:bodyPr wrap="square" lIns="0" tIns="0" rIns="0" bIns="0" rtlCol="0" anchor="ctr"/>
          <a:lstStyle/>
          <a:p>
            <a:pPr marL="0" indent="0">
              <a:buNone/>
            </a:pPr>
            <a:r>
              <a:rPr lang="en-US" sz="900" dirty="0">
                <a:solidFill>
                  <a:schemeClr val="tx2"/>
                </a:solidFill>
              </a:rPr>
              <a:t>PPIA · Homework 1 · Group 5</a:t>
            </a:r>
            <a:endParaRPr lang="en-US" sz="9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7680960" cy="320040"/>
          </a:xfrm>
          <a:prstGeom prst="rect">
            <a:avLst/>
          </a:prstGeom>
          <a:noFill/>
          <a:ln/>
        </p:spPr>
        <p:txBody>
          <a:bodyPr wrap="square" lIns="0" tIns="0" rIns="0" bIns="0" rtlCol="0" anchor="t"/>
          <a:lstStyle/>
          <a:p>
            <a:pPr marL="0" indent="0">
              <a:buNone/>
            </a:pPr>
            <a:r>
              <a:rPr lang="en-US" sz="1400" dirty="0">
                <a:solidFill>
                  <a:schemeClr val="tx2"/>
                </a:solidFill>
              </a:rPr>
              <a:t>Privacy Preserving Information Access — Homework 1</a:t>
            </a:r>
            <a:endParaRPr lang="en-US" sz="1400" dirty="0"/>
          </a:p>
        </p:txBody>
      </p:sp>
      <p:sp>
        <p:nvSpPr>
          <p:cNvPr id="3" name="Text 1"/>
          <p:cNvSpPr txBox="1"/>
          <p:nvPr/>
        </p:nvSpPr>
        <p:spPr>
          <a:xfrm>
            <a:off x="731520" y="1600200"/>
            <a:ext cx="7680960" cy="1280160"/>
          </a:xfrm>
          <a:prstGeom prst="rect">
            <a:avLst/>
          </a:prstGeom>
          <a:noFill/>
          <a:ln/>
        </p:spPr>
        <p:txBody>
          <a:bodyPr wrap="square" lIns="0" tIns="0" rIns="0" bIns="0" rtlCol="0" anchor="t"/>
          <a:lstStyle/>
          <a:p>
            <a:pPr marL="0" indent="0">
              <a:buNone/>
            </a:pPr>
            <a:r>
              <a:rPr lang="en-US" sz="3600" dirty="0">
                <a:solidFill>
                  <a:schemeClr val="tx1"/>
                </a:solidFill>
                <a:latin typeface="Georgia" pitchFamily="34" charset="0"/>
                <a:ea typeface="Georgia" pitchFamily="34" charset="-122"/>
                <a:cs typeface="Georgia" pitchFamily="34" charset="-120"/>
              </a:rPr>
              <a:t>Anonymizing the Google Local</a:t>
            </a:r>
            <a:endParaRPr lang="en-US" sz="3600" dirty="0"/>
          </a:p>
          <a:p>
            <a:pPr marL="0" indent="0">
              <a:buNone/>
            </a:pPr>
            <a:r>
              <a:rPr lang="en-US" sz="3600" dirty="0">
                <a:solidFill>
                  <a:schemeClr val="tx1"/>
                </a:solidFill>
                <a:latin typeface="Georgia" pitchFamily="34" charset="0"/>
                <a:ea typeface="Georgia" pitchFamily="34" charset="-122"/>
                <a:cs typeface="Georgia" pitchFamily="34" charset="-120"/>
              </a:rPr>
              <a:t>Reviews Dataset</a:t>
            </a:r>
            <a:endParaRPr lang="en-US" sz="3600" dirty="0"/>
          </a:p>
        </p:txBody>
      </p:sp>
      <p:sp>
        <p:nvSpPr>
          <p:cNvPr id="4" name="Text 2"/>
          <p:cNvSpPr txBox="1"/>
          <p:nvPr/>
        </p:nvSpPr>
        <p:spPr>
          <a:xfrm>
            <a:off x="731520" y="3246120"/>
            <a:ext cx="7680960" cy="274320"/>
          </a:xfrm>
          <a:prstGeom prst="rect">
            <a:avLst/>
          </a:prstGeom>
          <a:noFill/>
          <a:ln/>
        </p:spPr>
        <p:txBody>
          <a:bodyPr wrap="square" lIns="0" tIns="0" rIns="0" bIns="0" rtlCol="0" anchor="t"/>
          <a:lstStyle/>
          <a:p>
            <a:pPr marL="0" indent="0">
              <a:buNone/>
            </a:pPr>
            <a:r>
              <a:rPr lang="en-US" sz="1400" dirty="0">
                <a:solidFill>
                  <a:schemeClr val="tx1"/>
                </a:solidFill>
              </a:rPr>
              <a:t>Ivan Radovanovic, Laszlo Kosa, Maxime Henry</a:t>
            </a:r>
            <a:endParaRPr lang="en-US" sz="1400" dirty="0"/>
          </a:p>
        </p:txBody>
      </p:sp>
      <p:sp>
        <p:nvSpPr>
          <p:cNvPr id="5" name="Text 3"/>
          <p:cNvSpPr txBox="1"/>
          <p:nvPr/>
        </p:nvSpPr>
        <p:spPr>
          <a:xfrm>
            <a:off x="731520" y="3566160"/>
            <a:ext cx="7680960" cy="274320"/>
          </a:xfrm>
          <a:prstGeom prst="rect">
            <a:avLst/>
          </a:prstGeom>
          <a:noFill/>
          <a:ln/>
        </p:spPr>
        <p:txBody>
          <a:bodyPr wrap="square" lIns="0" tIns="0" rIns="0" bIns="0" rtlCol="0" anchor="t"/>
          <a:lstStyle/>
          <a:p>
            <a:pPr marL="0" indent="0">
              <a:buNone/>
            </a:pPr>
            <a:r>
              <a:rPr lang="en-US" sz="1300" dirty="0">
                <a:solidFill>
                  <a:schemeClr val="tx2"/>
                </a:solidFill>
              </a:rPr>
              <a:t>Group 5  ·  Academic Year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594360"/>
          </a:xfrm>
          <a:prstGeom prst="rect">
            <a:avLst/>
          </a:prstGeom>
          <a:noFill/>
          <a:ln/>
        </p:spPr>
        <p:txBody>
          <a:bodyPr wrap="square" lIns="0" tIns="0" rIns="0" bIns="0" rtlCol="0" anchor="ctr"/>
          <a:lstStyle/>
          <a:p>
            <a:pPr marL="0" indent="0" algn="l">
              <a:buNone/>
            </a:pPr>
            <a:r>
              <a:rPr lang="en-US" sz="2600" dirty="0">
                <a:solidFill>
                  <a:schemeClr val="tx1"/>
                </a:solidFill>
              </a:rPr>
              <a:t>The context</a:t>
            </a:r>
            <a:endParaRPr lang="en-US" sz="2600" dirty="0"/>
          </a:p>
        </p:txBody>
      </p:sp>
      <p:sp>
        <p:nvSpPr>
          <p:cNvPr id="3" name="Text 1"/>
          <p:cNvSpPr txBox="1"/>
          <p:nvPr/>
        </p:nvSpPr>
        <p:spPr>
          <a:xfrm>
            <a:off x="548640" y="1097280"/>
            <a:ext cx="3840480" cy="160020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Google Local Reviews</a:t>
            </a:r>
            <a:r>
              <a:rPr lang="en-US" sz="1400" dirty="0">
                <a:solidFill>
                  <a:schemeClr val="tx1"/>
                </a:solidFill>
              </a:rPr>
              <a:t>: public Google Maps reviews up to Sept 2021</a:t>
            </a:r>
            <a:endParaRPr lang="en-US" sz="1400" dirty="0"/>
          </a:p>
          <a:p>
            <a:pPr marL="342900" indent="-342900">
              <a:spcAft>
                <a:spcPts val="600"/>
              </a:spcAft>
              <a:buSzPct val="100000"/>
              <a:buChar char="•"/>
            </a:pPr>
            <a:r>
              <a:rPr lang="en-US" sz="1400" dirty="0">
                <a:solidFill>
                  <a:schemeClr val="tx1"/>
                </a:solidFill>
              </a:rPr>
              <a:t>Vermont: </a:t>
            </a:r>
            <a:r>
              <a:rPr lang="en-US" sz="1400" b="1" dirty="0">
                <a:solidFill>
                  <a:schemeClr val="tx1"/>
                </a:solidFill>
              </a:rPr>
              <a:t>841,978</a:t>
            </a:r>
            <a:r>
              <a:rPr lang="en-US" sz="1400" dirty="0">
                <a:solidFill>
                  <a:schemeClr val="tx1"/>
                </a:solidFill>
              </a:rPr>
              <a:t> reviews, </a:t>
            </a:r>
            <a:r>
              <a:rPr lang="en-US" sz="1400" b="1" dirty="0">
                <a:solidFill>
                  <a:schemeClr val="tx1"/>
                </a:solidFill>
              </a:rPr>
              <a:t>288,212</a:t>
            </a:r>
            <a:r>
              <a:rPr lang="en-US" sz="1400" dirty="0">
                <a:solidFill>
                  <a:schemeClr val="tx1"/>
                </a:solidFill>
              </a:rPr>
              <a:t> users, </a:t>
            </a:r>
            <a:r>
              <a:rPr lang="en-US" sz="1400" b="1" dirty="0">
                <a:solidFill>
                  <a:schemeClr val="tx1"/>
                </a:solidFill>
              </a:rPr>
              <a:t>11,243</a:t>
            </a:r>
            <a:r>
              <a:rPr lang="en-US" sz="1400" dirty="0">
                <a:solidFill>
                  <a:schemeClr val="tx1"/>
                </a:solidFill>
              </a:rPr>
              <a:t> places</a:t>
            </a:r>
            <a:endParaRPr lang="en-US" sz="1400" dirty="0"/>
          </a:p>
          <a:p>
            <a:pPr marL="342900" indent="-342900">
              <a:spcAft>
                <a:spcPts val="600"/>
              </a:spcAft>
              <a:buSzPct val="100000"/>
              <a:buChar char="•"/>
            </a:pPr>
            <a:r>
              <a:rPr lang="en-US" sz="1400" dirty="0">
                <a:solidFill>
                  <a:schemeClr val="tx1"/>
                </a:solidFill>
              </a:rPr>
              <a:t>One synthetic attribute: </a:t>
            </a:r>
            <a:r>
              <a:rPr lang="en-US" sz="1400" b="1" dirty="0">
                <a:solidFill>
                  <a:schemeClr val="tx1"/>
                </a:solidFill>
              </a:rPr>
              <a:t>spent</a:t>
            </a:r>
            <a:r>
              <a:rPr lang="en-US" sz="1400" dirty="0">
                <a:solidFill>
                  <a:schemeClr val="tx1"/>
                </a:solidFill>
              </a:rPr>
              <a:t>, the amount paid during the visit</a:t>
            </a:r>
            <a:endParaRPr lang="en-US" sz="1400" dirty="0"/>
          </a:p>
        </p:txBody>
      </p:sp>
      <p:sp>
        <p:nvSpPr>
          <p:cNvPr id="4" name="Text 2"/>
          <p:cNvSpPr txBox="1"/>
          <p:nvPr/>
        </p:nvSpPr>
        <p:spPr>
          <a:xfrm>
            <a:off x="548640" y="2743200"/>
            <a:ext cx="3840480" cy="274320"/>
          </a:xfrm>
          <a:prstGeom prst="rect">
            <a:avLst/>
          </a:prstGeom>
          <a:noFill/>
          <a:ln/>
        </p:spPr>
        <p:txBody>
          <a:bodyPr wrap="square" lIns="0" tIns="0" rIns="0" bIns="0" rtlCol="0" anchor="t"/>
          <a:lstStyle/>
          <a:p>
            <a:pPr marL="0" indent="0">
              <a:buNone/>
            </a:pPr>
            <a:r>
              <a:rPr lang="en-US" sz="1400" b="1" dirty="0">
                <a:solidFill>
                  <a:schemeClr val="accent1"/>
                </a:solidFill>
              </a:rPr>
              <a:t>Why re-identification is easy</a:t>
            </a:r>
            <a:endParaRPr lang="en-US" sz="1400" dirty="0"/>
          </a:p>
        </p:txBody>
      </p:sp>
      <p:sp>
        <p:nvSpPr>
          <p:cNvPr id="5" name="Text 3"/>
          <p:cNvSpPr txBox="1"/>
          <p:nvPr/>
        </p:nvSpPr>
        <p:spPr>
          <a:xfrm>
            <a:off x="548640" y="3090672"/>
            <a:ext cx="3840480" cy="1097280"/>
          </a:xfrm>
          <a:prstGeom prst="rect">
            <a:avLst/>
          </a:prstGeom>
          <a:noFill/>
          <a:ln/>
        </p:spPr>
        <p:txBody>
          <a:bodyPr wrap="square" lIns="0" tIns="0" rIns="0" bIns="0" rtlCol="0" anchor="t"/>
          <a:lstStyle/>
          <a:p>
            <a:pPr marL="342900" indent="-342900">
              <a:spcAft>
                <a:spcPts val="400"/>
              </a:spcAft>
              <a:buSzPct val="100000"/>
              <a:buChar char="•"/>
            </a:pPr>
            <a:r>
              <a:rPr lang="en-US" sz="1400" b="1" dirty="0">
                <a:solidFill>
                  <a:schemeClr val="tx1"/>
                </a:solidFill>
              </a:rPr>
              <a:t>64%</a:t>
            </a:r>
            <a:r>
              <a:rPr lang="en-US" sz="1400" dirty="0">
                <a:solidFill>
                  <a:schemeClr val="tx1"/>
                </a:solidFill>
              </a:rPr>
              <a:t> of users wrote only one review</a:t>
            </a:r>
            <a:endParaRPr lang="en-US" sz="1400" dirty="0"/>
          </a:p>
          <a:p>
            <a:pPr marL="342900" indent="-342900">
              <a:spcAft>
                <a:spcPts val="400"/>
              </a:spcAft>
              <a:buSzPct val="100000"/>
              <a:buChar char="•"/>
            </a:pPr>
            <a:r>
              <a:rPr lang="en-US" sz="1400" dirty="0">
                <a:solidFill>
                  <a:schemeClr val="tx1"/>
                </a:solidFill>
              </a:rPr>
              <a:t>1 place in 3 has </a:t>
            </a:r>
            <a:r>
              <a:rPr lang="en-US" sz="1400" b="1" dirty="0">
                <a:solidFill>
                  <a:schemeClr val="tx1"/>
                </a:solidFill>
              </a:rPr>
              <a:t>fewer than 10</a:t>
            </a:r>
            <a:r>
              <a:rPr lang="en-US" sz="1400" dirty="0">
                <a:solidFill>
                  <a:schemeClr val="tx1"/>
                </a:solidFill>
              </a:rPr>
              <a:t> reviews</a:t>
            </a:r>
            <a:endParaRPr lang="en-US" sz="1400" dirty="0"/>
          </a:p>
          <a:p>
            <a:pPr marL="342900" indent="-342900">
              <a:spcAft>
                <a:spcPts val="400"/>
              </a:spcAft>
              <a:buSzPct val="100000"/>
              <a:buChar char="•"/>
            </a:pPr>
            <a:r>
              <a:rPr lang="en-US" sz="1400" dirty="0">
                <a:solidFill>
                  <a:schemeClr val="tx1"/>
                </a:solidFill>
              </a:rPr>
              <a:t>No two reviews share the same timestamp</a:t>
            </a:r>
            <a:endParaRPr lang="en-US" sz="1400" dirty="0"/>
          </a:p>
        </p:txBody>
      </p:sp>
      <p:sp>
        <p:nvSpPr>
          <p:cNvPr id="6" name="Text 4"/>
          <p:cNvSpPr txBox="1"/>
          <p:nvPr/>
        </p:nvSpPr>
        <p:spPr>
          <a:xfrm>
            <a:off x="548640" y="4251960"/>
            <a:ext cx="8046720" cy="274320"/>
          </a:xfrm>
          <a:prstGeom prst="rect">
            <a:avLst/>
          </a:prstGeom>
          <a:noFill/>
          <a:ln/>
        </p:spPr>
        <p:txBody>
          <a:bodyPr wrap="square" lIns="0" tIns="0" rIns="0" bIns="0" rtlCol="0" anchor="t"/>
          <a:lstStyle/>
          <a:p>
            <a:pPr marL="0" indent="0">
              <a:buNone/>
            </a:pPr>
            <a:r>
              <a:rPr lang="en-US" sz="1400" i="1" dirty="0">
                <a:solidFill>
                  <a:schemeClr val="accent1"/>
                </a:solidFill>
              </a:rPr>
              <a:t>Goal: release the data for research, keep the reviewers private.</a:t>
            </a:r>
            <a:endParaRPr lang="en-US" sz="1400" dirty="0"/>
          </a:p>
        </p:txBody>
      </p:sp>
      <p:pic>
        <p:nvPicPr>
          <p:cNvPr id="7" name="reviews per user figure" descr="/mnt/user-data/uploads/PPIA_HW1/figures/03_reviews_per_user.png"/>
          <p:cNvPicPr>
            <a:picLocks noChangeAspect="1"/>
          </p:cNvPicPr>
          <p:nvPr/>
        </p:nvPicPr>
        <p:blipFill>
          <a:blip r:embed="rId3"/>
          <a:stretch>
            <a:fillRect/>
          </a:stretch>
        </p:blipFill>
        <p:spPr>
          <a:xfrm>
            <a:off x="4663440" y="1097280"/>
            <a:ext cx="3931920" cy="2359152"/>
          </a:xfrm>
          <a:prstGeom prst="rect">
            <a:avLst/>
          </a:prstGeom>
        </p:spPr>
      </p:pic>
      <p:sp>
        <p:nvSpPr>
          <p:cNvPr id="8" name="Text 5"/>
          <p:cNvSpPr txBox="1"/>
          <p:nvPr/>
        </p:nvSpPr>
        <p:spPr>
          <a:xfrm>
            <a:off x="4663440" y="3493008"/>
            <a:ext cx="3931920" cy="228600"/>
          </a:xfrm>
          <a:prstGeom prst="rect">
            <a:avLst/>
          </a:prstGeom>
          <a:noFill/>
          <a:ln/>
        </p:spPr>
        <p:txBody>
          <a:bodyPr wrap="square" lIns="0" tIns="0" rIns="0" bIns="0" rtlCol="0" anchor="t"/>
          <a:lstStyle/>
          <a:p>
            <a:pPr marL="0" indent="0">
              <a:buNone/>
            </a:pPr>
            <a:r>
              <a:rPr lang="en-US" sz="1000" i="1" dirty="0">
                <a:solidFill>
                  <a:schemeClr val="tx2"/>
                </a:solidFill>
              </a:rPr>
              <a:t>Reviews written per user, Vermont</a:t>
            </a:r>
            <a:endParaRPr lang="en-US" sz="10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594360"/>
          </a:xfrm>
          <a:prstGeom prst="rect">
            <a:avLst/>
          </a:prstGeom>
          <a:noFill/>
          <a:ln/>
        </p:spPr>
        <p:txBody>
          <a:bodyPr wrap="square" lIns="0" tIns="0" rIns="0" bIns="0" rtlCol="0" anchor="ctr"/>
          <a:lstStyle/>
          <a:p>
            <a:pPr marL="0" indent="0" algn="l">
              <a:buNone/>
            </a:pPr>
            <a:r>
              <a:rPr lang="en-US" sz="2600" dirty="0">
                <a:solidFill>
                  <a:schemeClr val="tx1"/>
                </a:solidFill>
              </a:rPr>
              <a:t>The data: types of attributes</a:t>
            </a:r>
            <a:endParaRPr lang="en-US" sz="2600" dirty="0"/>
          </a:p>
        </p:txBody>
      </p:sp>
      <p:graphicFrame>
        <p:nvGraphicFramePr>
          <p:cNvPr id="4" name="attribute table"/>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3291840"/>
        </p:xfrm>
        <a:graphic>
          <a:graphicData uri="http://schemas.openxmlformats.org/drawingml/2006/table">
            <a:tbl>
              <a:tblPr/>
              <a:tblGrid>
                <a:gridCol w="26517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29184">
                <a:tc>
                  <a:txBody>
                    <a:bodyPr/>
                    <a:lstStyle/>
                    <a:p>
                      <a:pPr marL="0" indent="0" algn="l">
                        <a:buNone/>
                      </a:pPr>
                      <a:r>
                        <a:rPr lang="en-US" sz="1300" b="1" dirty="0">
                          <a:solidFill>
                            <a:srgbClr val="222222"/>
                          </a:solidFill>
                          <a:latin typeface="Arial" pitchFamily="34" charset="0"/>
                          <a:ea typeface="Arial" pitchFamily="34" charset="-122"/>
                          <a:cs typeface="Arial" pitchFamily="34" charset="-120"/>
                        </a:rPr>
                        <a:t>Attribute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l">
                        <a:buNone/>
                      </a:pPr>
                      <a:r>
                        <a:rPr lang="en-US" sz="1300" b="1" dirty="0">
                          <a:solidFill>
                            <a:srgbClr val="222222"/>
                          </a:solidFill>
                          <a:latin typeface="Arial" pitchFamily="34" charset="0"/>
                          <a:ea typeface="Arial" pitchFamily="34" charset="-122"/>
                          <a:cs typeface="Arial" pitchFamily="34" charset="-120"/>
                        </a:rPr>
                        <a:t>Type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l">
                        <a:buNone/>
                      </a:pPr>
                      <a:r>
                        <a:rPr lang="en-US" sz="1300" b="1" dirty="0">
                          <a:solidFill>
                            <a:srgbClr val="222222"/>
                          </a:solidFill>
                          <a:latin typeface="Arial" pitchFamily="34" charset="0"/>
                          <a:ea typeface="Arial" pitchFamily="34" charset="-122"/>
                          <a:cs typeface="Arial" pitchFamily="34" charset="-120"/>
                        </a:rPr>
                        <a:t>In the released data (v7)</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name, user_id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9B0014"/>
                          </a:solidFill>
                          <a:latin typeface="Arial" pitchFamily="34" charset="0"/>
                          <a:ea typeface="Arial" pitchFamily="34" charset="-122"/>
                          <a:cs typeface="Arial" pitchFamily="34" charset="-120"/>
                        </a:rPr>
                        <a:t>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removed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date of the review</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quasi-identifier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quarter (2019-Q1)</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place (gmap_id)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quasi-identifier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broad group (12 types)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rating</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quasi-identifier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kept (1–5 stars)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review / reply length</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quasi-identifier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5 length classes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number of photos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quasi-identifier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0 / 1 / 2 / 3+</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owner reply, reply delay</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quasi-identifier</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yes / no, 5 delay buckets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review text, reply text</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9B0014"/>
                          </a:solidFill>
                          <a:latin typeface="Arial" pitchFamily="34" charset="0"/>
                          <a:ea typeface="Arial" pitchFamily="34" charset="-122"/>
                          <a:cs typeface="Arial" pitchFamily="34" charset="-120"/>
                        </a:rPr>
                        <a:t>sensitive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removed (only the length class)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8"/>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spent (synthetic)</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l">
                        <a:buNone/>
                      </a:pPr>
                      <a:r>
                        <a:rPr lang="en-US" sz="1300" dirty="0">
                          <a:solidFill>
                            <a:srgbClr val="9B0014"/>
                          </a:solidFill>
                          <a:latin typeface="Arial" pitchFamily="34" charset="0"/>
                          <a:ea typeface="Arial" pitchFamily="34" charset="-122"/>
                          <a:cs typeface="Arial" pitchFamily="34" charset="-120"/>
                        </a:rPr>
                        <a:t>sensitive</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7 values ($0 – $500)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594360"/>
          </a:xfrm>
          <a:prstGeom prst="rect">
            <a:avLst/>
          </a:prstGeom>
          <a:noFill/>
          <a:ln/>
        </p:spPr>
        <p:txBody>
          <a:bodyPr wrap="square" lIns="0" tIns="0" rIns="0" bIns="0" rtlCol="0" anchor="ctr"/>
          <a:lstStyle/>
          <a:p>
            <a:pPr marL="0" indent="0" algn="l">
              <a:buNone/>
            </a:pPr>
            <a:r>
              <a:rPr lang="en-US" sz="2600" dirty="0">
                <a:solidFill>
                  <a:schemeClr val="tx1"/>
                </a:solidFill>
              </a:rPr>
              <a:t>Adversaries</a:t>
            </a:r>
            <a:endParaRPr lang="en-US" sz="2600" dirty="0"/>
          </a:p>
        </p:txBody>
      </p:sp>
      <p:sp>
        <p:nvSpPr>
          <p:cNvPr id="3" name="Text 1"/>
          <p:cNvSpPr txBox="1"/>
          <p:nvPr/>
        </p:nvSpPr>
        <p:spPr>
          <a:xfrm>
            <a:off x="548640" y="1143000"/>
            <a:ext cx="3291840" cy="320040"/>
          </a:xfrm>
          <a:prstGeom prst="rect">
            <a:avLst/>
          </a:prstGeom>
          <a:noFill/>
          <a:ln/>
        </p:spPr>
        <p:txBody>
          <a:bodyPr wrap="square" lIns="0" tIns="0" rIns="0" bIns="0" rtlCol="0" anchor="t"/>
          <a:lstStyle/>
          <a:p>
            <a:pPr marL="0" indent="0">
              <a:buNone/>
            </a:pPr>
            <a:r>
              <a:rPr lang="en-US" sz="1600" b="1" dirty="0">
                <a:solidFill>
                  <a:schemeClr val="accent1"/>
                </a:solidFill>
              </a:rPr>
              <a:t>Who can access the data</a:t>
            </a:r>
            <a:endParaRPr lang="en-US" sz="1600" dirty="0"/>
          </a:p>
        </p:txBody>
      </p:sp>
      <p:sp>
        <p:nvSpPr>
          <p:cNvPr id="4" name="Text 2"/>
          <p:cNvSpPr txBox="1"/>
          <p:nvPr/>
        </p:nvSpPr>
        <p:spPr>
          <a:xfrm>
            <a:off x="548640" y="1554480"/>
            <a:ext cx="3291840" cy="23774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Anyone who downloads the release</a:t>
            </a:r>
            <a:endParaRPr lang="en-US" sz="1500" dirty="0"/>
          </a:p>
          <a:p>
            <a:pPr marL="342900" indent="-342900">
              <a:spcAft>
                <a:spcPts val="900"/>
              </a:spcAft>
              <a:buSzPct val="100000"/>
              <a:buChar char="•"/>
            </a:pPr>
            <a:r>
              <a:rPr lang="en-US" sz="1500" dirty="0">
                <a:solidFill>
                  <a:schemeClr val="tx1"/>
                </a:solidFill>
              </a:rPr>
              <a:t>Data brokers and profilers</a:t>
            </a:r>
            <a:endParaRPr lang="en-US" sz="1500" dirty="0"/>
          </a:p>
          <a:p>
            <a:pPr marL="342900" indent="-342900">
              <a:spcAft>
                <a:spcPts val="900"/>
              </a:spcAft>
              <a:buSzPct val="100000"/>
              <a:buChar char="•"/>
            </a:pPr>
            <a:r>
              <a:rPr lang="en-US" sz="1500" dirty="0">
                <a:solidFill>
                  <a:schemeClr val="tx1"/>
                </a:solidFill>
              </a:rPr>
              <a:t>Advertisers, insurers, employers</a:t>
            </a:r>
            <a:endParaRPr lang="en-US" sz="1500" dirty="0"/>
          </a:p>
          <a:p>
            <a:pPr marL="342900" indent="-342900">
              <a:spcAft>
                <a:spcPts val="900"/>
              </a:spcAft>
              <a:buSzPct val="100000"/>
              <a:buChar char="•"/>
            </a:pPr>
            <a:r>
              <a:rPr lang="en-US" sz="1500" dirty="0">
                <a:solidFill>
                  <a:schemeClr val="tx1"/>
                </a:solidFill>
              </a:rPr>
              <a:t>Someone who knows the victim</a:t>
            </a:r>
            <a:endParaRPr lang="en-US" sz="1500" dirty="0"/>
          </a:p>
        </p:txBody>
      </p:sp>
      <p:sp>
        <p:nvSpPr>
          <p:cNvPr id="5" name="Text 3"/>
          <p:cNvSpPr txBox="1"/>
          <p:nvPr/>
        </p:nvSpPr>
        <p:spPr>
          <a:xfrm>
            <a:off x="4389120" y="1143000"/>
            <a:ext cx="4206240" cy="320040"/>
          </a:xfrm>
          <a:prstGeom prst="rect">
            <a:avLst/>
          </a:prstGeom>
          <a:noFill/>
          <a:ln/>
        </p:spPr>
        <p:txBody>
          <a:bodyPr wrap="square" lIns="0" tIns="0" rIns="0" bIns="0" rtlCol="0" anchor="t"/>
          <a:lstStyle/>
          <a:p>
            <a:pPr marL="0" indent="0">
              <a:buNone/>
            </a:pPr>
            <a:r>
              <a:rPr lang="en-US" sz="1600" b="1" dirty="0">
                <a:solidFill>
                  <a:schemeClr val="accent1"/>
                </a:solidFill>
              </a:rPr>
              <a:t>How: record linkage</a:t>
            </a:r>
            <a:endParaRPr lang="en-US" sz="1600" dirty="0"/>
          </a:p>
        </p:txBody>
      </p:sp>
      <p:sp>
        <p:nvSpPr>
          <p:cNvPr id="6" name="Text 4"/>
          <p:cNvSpPr txBox="1"/>
          <p:nvPr/>
        </p:nvSpPr>
        <p:spPr>
          <a:xfrm>
            <a:off x="4389120" y="1554480"/>
            <a:ext cx="4206240" cy="2651760"/>
          </a:xfrm>
          <a:prstGeom prst="rect">
            <a:avLst/>
          </a:prstGeom>
          <a:noFill/>
          <a:ln/>
        </p:spPr>
        <p:txBody>
          <a:bodyPr wrap="square" lIns="0" tIns="0" rIns="0" bIns="0" rtlCol="0" anchor="t"/>
          <a:lstStyle/>
          <a:p>
            <a:pPr marL="342900" indent="-342900">
              <a:spcAft>
                <a:spcPts val="900"/>
              </a:spcAft>
              <a:buSzPct val="100000"/>
              <a:buChar char="•"/>
            </a:pPr>
            <a:r>
              <a:rPr lang="en-US" sz="1500" b="1" dirty="0">
                <a:solidFill>
                  <a:schemeClr val="tx1"/>
                </a:solidFill>
              </a:rPr>
              <a:t>user_id</a:t>
            </a:r>
            <a:r>
              <a:rPr lang="en-US" sz="1500" dirty="0">
                <a:solidFill>
                  <a:schemeClr val="tx1"/>
                </a:solidFill>
              </a:rPr>
              <a:t> → public profile, reviews in other states</a:t>
            </a:r>
            <a:endParaRPr lang="en-US" sz="1500" dirty="0"/>
          </a:p>
          <a:p>
            <a:pPr marL="342900" indent="-342900">
              <a:spcAft>
                <a:spcPts val="900"/>
              </a:spcAft>
              <a:buSzPct val="100000"/>
              <a:buChar char="•"/>
            </a:pPr>
            <a:r>
              <a:rPr lang="en-US" sz="1500" b="1" dirty="0">
                <a:solidFill>
                  <a:schemeClr val="tx1"/>
                </a:solidFill>
              </a:rPr>
              <a:t>name + town + month</a:t>
            </a:r>
            <a:r>
              <a:rPr lang="en-US" sz="1500" dirty="0">
                <a:solidFill>
                  <a:schemeClr val="tx1"/>
                </a:solidFill>
              </a:rPr>
              <a:t> → social networks, public registers</a:t>
            </a:r>
            <a:endParaRPr lang="en-US" sz="1500" dirty="0"/>
          </a:p>
          <a:p>
            <a:pPr marL="342900" indent="-342900">
              <a:spcAft>
                <a:spcPts val="900"/>
              </a:spcAft>
              <a:buSzPct val="100000"/>
              <a:buChar char="•"/>
            </a:pPr>
            <a:r>
              <a:rPr lang="en-US" sz="1500" b="1" dirty="0">
                <a:solidFill>
                  <a:schemeClr val="tx1"/>
                </a:solidFill>
              </a:rPr>
              <a:t>place + date + rating</a:t>
            </a:r>
            <a:r>
              <a:rPr lang="en-US" sz="1500" dirty="0">
                <a:solidFill>
                  <a:schemeClr val="tx1"/>
                </a:solidFill>
              </a:rPr>
              <a:t> → the public review on Google Maps</a:t>
            </a:r>
            <a:endParaRPr lang="en-US" sz="1500" dirty="0"/>
          </a:p>
          <a:p>
            <a:pPr marL="342900" indent="-342900">
              <a:spcAft>
                <a:spcPts val="900"/>
              </a:spcAft>
              <a:buSzPct val="100000"/>
              <a:buChar char="•"/>
            </a:pPr>
            <a:r>
              <a:rPr lang="en-US" sz="1500" dirty="0">
                <a:solidFill>
                  <a:schemeClr val="tx1"/>
                </a:solidFill>
              </a:rPr>
              <a:t>The review can be </a:t>
            </a:r>
            <a:r>
              <a:rPr lang="en-US" sz="1500" dirty="0"/>
              <a:t>deleted at some point in time</a:t>
            </a:r>
            <a:r>
              <a:rPr lang="en-US" sz="1500" dirty="0">
                <a:solidFill>
                  <a:schemeClr val="tx1"/>
                </a:solidFill>
              </a:rPr>
              <a:t>, and a released copy cannot be erased</a:t>
            </a:r>
            <a:endParaRPr lang="en-US" sz="15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594360"/>
          </a:xfrm>
          <a:prstGeom prst="rect">
            <a:avLst/>
          </a:prstGeom>
          <a:noFill/>
          <a:ln/>
        </p:spPr>
        <p:txBody>
          <a:bodyPr wrap="square" lIns="0" tIns="0" rIns="0" bIns="0" rtlCol="0" anchor="ctr"/>
          <a:lstStyle/>
          <a:p>
            <a:pPr marL="0" indent="0" algn="l">
              <a:buNone/>
            </a:pPr>
            <a:r>
              <a:rPr lang="en-US" sz="2600" dirty="0">
                <a:solidFill>
                  <a:schemeClr val="tx1"/>
                </a:solidFill>
              </a:rPr>
              <a:t>Utility: do unhappy customers write more?</a:t>
            </a:r>
            <a:endParaRPr lang="en-US" sz="2600" dirty="0"/>
          </a:p>
        </p:txBody>
      </p:sp>
      <p:sp>
        <p:nvSpPr>
          <p:cNvPr id="3" name="Text 1"/>
          <p:cNvSpPr txBox="1"/>
          <p:nvPr/>
        </p:nvSpPr>
        <p:spPr>
          <a:xfrm>
            <a:off x="548640" y="1005840"/>
            <a:ext cx="8046720" cy="274320"/>
          </a:xfrm>
          <a:prstGeom prst="rect">
            <a:avLst/>
          </a:prstGeom>
          <a:noFill/>
          <a:ln/>
        </p:spPr>
        <p:txBody>
          <a:bodyPr wrap="square" lIns="0" tIns="0" rIns="0" bIns="0" rtlCol="0" anchor="t"/>
          <a:lstStyle/>
          <a:p>
            <a:pPr marL="0" indent="0">
              <a:buNone/>
            </a:pPr>
            <a:r>
              <a:rPr lang="en-US" sz="1400" dirty="0">
                <a:solidFill>
                  <a:schemeClr val="tx2"/>
                </a:solidFill>
              </a:rPr>
              <a:t>Share of negative reviews (1–2 stars) by review length</a:t>
            </a:r>
            <a:endParaRPr lang="en-US" sz="1400" dirty="0"/>
          </a:p>
        </p:txBody>
      </p:sp>
      <p:graphicFrame>
        <p:nvGraphicFramePr>
          <p:cNvPr id="6" name="utility table"/>
          <p:cNvGraphicFramePr>
            <a:graphicFrameLocks noGrp="1"/>
          </p:cNvGraphicFramePr>
          <p:nvPr>
            <p:extLst>
              <p:ext uri="{D42A27DB-BD31-4B8C-83A1-F6EECF244321}">
                <p14:modId xmlns:p14="http://schemas.microsoft.com/office/powerpoint/2010/main" val="1579011935"/>
              </p:ext>
            </p:extLst>
          </p:nvPr>
        </p:nvGraphicFramePr>
        <p:xfrm>
          <a:off x="548640" y="1463040"/>
          <a:ext cx="5120640" cy="2194560"/>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65760">
                <a:tc>
                  <a:txBody>
                    <a:bodyPr/>
                    <a:lstStyle/>
                    <a:p>
                      <a:pPr marL="0" indent="0" algn="l">
                        <a:buNone/>
                      </a:pPr>
                      <a:r>
                        <a:rPr lang="en-US" sz="1300" b="1" dirty="0">
                          <a:solidFill>
                            <a:srgbClr val="222222"/>
                          </a:solidFill>
                          <a:latin typeface="Arial" pitchFamily="34" charset="0"/>
                          <a:ea typeface="Arial" pitchFamily="34" charset="-122"/>
                          <a:cs typeface="Arial" pitchFamily="34" charset="-120"/>
                        </a:rPr>
                        <a:t>Length class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l">
                        <a:buNone/>
                      </a:pPr>
                      <a:r>
                        <a:rPr lang="en-US" sz="1300" b="1" dirty="0">
                          <a:solidFill>
                            <a:srgbClr val="222222"/>
                          </a:solidFill>
                          <a:latin typeface="Arial" pitchFamily="34" charset="0"/>
                          <a:ea typeface="Arial" pitchFamily="34" charset="-122"/>
                          <a:cs typeface="Arial" pitchFamily="34" charset="-120"/>
                        </a:rPr>
                        <a:t>Characters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r">
                        <a:buNone/>
                      </a:pPr>
                      <a:r>
                        <a:rPr lang="en-US" sz="1300" b="1" dirty="0">
                          <a:solidFill>
                            <a:srgbClr val="222222"/>
                          </a:solidFill>
                          <a:latin typeface="Arial" pitchFamily="34" charset="0"/>
                          <a:ea typeface="Arial" pitchFamily="34" charset="-122"/>
                          <a:cs typeface="Arial" pitchFamily="34" charset="-120"/>
                        </a:rPr>
                        <a:t>Original</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r">
                        <a:buNone/>
                      </a:pPr>
                      <a:r>
                        <a:rPr lang="en-US" sz="1300" b="1" dirty="0">
                          <a:solidFill>
                            <a:srgbClr val="222222"/>
                          </a:solidFill>
                          <a:latin typeface="Arial" pitchFamily="34" charset="0"/>
                          <a:ea typeface="Arial" pitchFamily="34" charset="-122"/>
                          <a:cs typeface="Arial" pitchFamily="34" charset="-120"/>
                        </a:rPr>
                        <a:t>Released (v7)</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very short</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&lt; 10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5.3%</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5.2%</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short</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10 – 49</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5.1%</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4.9%</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50 – 149</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7.3%</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7.1%</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long</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150 – 399</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14.1%</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13.8%</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very long</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400 +</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r">
                        <a:buNone/>
                      </a:pPr>
                      <a:r>
                        <a:rPr lang="en-US" sz="1300" dirty="0">
                          <a:solidFill>
                            <a:srgbClr val="9B0014"/>
                          </a:solidFill>
                          <a:latin typeface="Arial" pitchFamily="34" charset="0"/>
                          <a:ea typeface="Arial" pitchFamily="34" charset="-122"/>
                          <a:cs typeface="Arial" pitchFamily="34" charset="-120"/>
                        </a:rPr>
                        <a:t>31.0%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r">
                        <a:buNone/>
                      </a:pPr>
                      <a:r>
                        <a:rPr lang="en-US" sz="1300" dirty="0">
                          <a:solidFill>
                            <a:srgbClr val="9B0014"/>
                          </a:solidFill>
                          <a:latin typeface="Arial" pitchFamily="34" charset="0"/>
                          <a:ea typeface="Arial" pitchFamily="34" charset="-122"/>
                          <a:cs typeface="Arial" pitchFamily="34" charset="-120"/>
                        </a:rPr>
                        <a:t>30.7%</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txBox="1"/>
          <p:nvPr/>
        </p:nvSpPr>
        <p:spPr>
          <a:xfrm>
            <a:off x="6035040" y="1508760"/>
            <a:ext cx="2560320" cy="20116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Long reviews are about 6× more often negative</a:t>
            </a:r>
            <a:endParaRPr lang="en-US" sz="1400" dirty="0"/>
          </a:p>
          <a:p>
            <a:pPr marL="342900" indent="-342900">
              <a:spcAft>
                <a:spcPts val="1000"/>
              </a:spcAft>
              <a:buSzPct val="100000"/>
              <a:buChar char="•"/>
            </a:pPr>
            <a:r>
              <a:rPr lang="en-US" sz="1400" dirty="0">
                <a:solidFill>
                  <a:schemeClr val="tx1"/>
                </a:solidFill>
              </a:rPr>
              <a:t>After anonymization the pattern is practically unchanged</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594360"/>
          </a:xfrm>
          <a:prstGeom prst="rect">
            <a:avLst/>
          </a:prstGeom>
          <a:noFill/>
          <a:ln/>
        </p:spPr>
        <p:txBody>
          <a:bodyPr wrap="square" lIns="0" tIns="0" rIns="0" bIns="0" rtlCol="0" anchor="ctr"/>
          <a:lstStyle/>
          <a:p>
            <a:pPr marL="0" indent="0" algn="l">
              <a:buNone/>
            </a:pPr>
            <a:r>
              <a:rPr lang="en-US" sz="2600" dirty="0">
                <a:solidFill>
                  <a:schemeClr val="tx1"/>
                </a:solidFill>
              </a:rPr>
              <a:t>The problem we found</a:t>
            </a:r>
            <a:endParaRPr lang="en-US" sz="2600" dirty="0"/>
          </a:p>
        </p:txBody>
      </p:sp>
      <p:sp>
        <p:nvSpPr>
          <p:cNvPr id="3" name="Text 1"/>
          <p:cNvSpPr txBox="1"/>
          <p:nvPr/>
        </p:nvSpPr>
        <p:spPr>
          <a:xfrm>
            <a:off x="548640" y="1051560"/>
            <a:ext cx="8046720" cy="457200"/>
          </a:xfrm>
          <a:prstGeom prst="rect">
            <a:avLst/>
          </a:prstGeom>
          <a:noFill/>
          <a:ln/>
        </p:spPr>
        <p:txBody>
          <a:bodyPr wrap="square" lIns="0" tIns="0" rIns="0" bIns="0" rtlCol="0" anchor="t"/>
          <a:lstStyle/>
          <a:p>
            <a:pPr marL="0" indent="0">
              <a:buNone/>
            </a:pPr>
            <a:r>
              <a:rPr lang="en-US" sz="1400" b="1" dirty="0">
                <a:solidFill>
                  <a:schemeClr val="tx1"/>
                </a:solidFill>
              </a:rPr>
              <a:t>First attempt: </a:t>
            </a:r>
            <a:r>
              <a:rPr lang="en-US" sz="1400" dirty="0">
                <a:solidFill>
                  <a:schemeClr val="tx1"/>
                </a:solidFill>
              </a:rPr>
              <a:t>k = 5 only on the place categories. Every place group had ≥ 5 reviews.</a:t>
            </a:r>
            <a:endParaRPr lang="en-US" sz="1400" dirty="0"/>
          </a:p>
        </p:txBody>
      </p:sp>
      <p:sp>
        <p:nvSpPr>
          <p:cNvPr id="4" name="Text 2"/>
          <p:cNvSpPr txBox="1"/>
          <p:nvPr/>
        </p:nvSpPr>
        <p:spPr>
          <a:xfrm>
            <a:off x="548640" y="1554480"/>
            <a:ext cx="8046720" cy="274320"/>
          </a:xfrm>
          <a:prstGeom prst="rect">
            <a:avLst/>
          </a:prstGeom>
          <a:noFill/>
          <a:ln/>
        </p:spPr>
        <p:txBody>
          <a:bodyPr wrap="square" lIns="0" tIns="0" rIns="0" bIns="0" rtlCol="0" anchor="t"/>
          <a:lstStyle/>
          <a:p>
            <a:pPr marL="0" indent="0">
              <a:buNone/>
            </a:pPr>
            <a:r>
              <a:rPr lang="en-US" sz="1400" dirty="0">
                <a:solidFill>
                  <a:schemeClr val="tx2"/>
                </a:solidFill>
              </a:rPr>
              <a:t>But k-anonymity is about the combination of all quasi-identifiers. On the published data:</a:t>
            </a:r>
            <a:endParaRPr lang="en-US" sz="1400" dirty="0"/>
          </a:p>
        </p:txBody>
      </p:sp>
      <p:graphicFrame>
        <p:nvGraphicFramePr>
          <p:cNvPr id="7" name="problem table"/>
          <p:cNvGraphicFramePr>
            <a:graphicFrameLocks noGrp="1"/>
          </p:cNvGraphicFramePr>
          <p:nvPr>
            <p:extLst>
              <p:ext uri="{D42A27DB-BD31-4B8C-83A1-F6EECF244321}">
                <p14:modId xmlns:p14="http://schemas.microsoft.com/office/powerpoint/2010/main" val="1579011935"/>
              </p:ext>
            </p:extLst>
          </p:nvPr>
        </p:nvGraphicFramePr>
        <p:xfrm>
          <a:off x="548640" y="1965960"/>
          <a:ext cx="6035040" cy="1645920"/>
        </p:xfrm>
        <a:graphic>
          <a:graphicData uri="http://schemas.openxmlformats.org/drawingml/2006/table">
            <a:tbl>
              <a:tblPr/>
              <a:tblGrid>
                <a:gridCol w="27432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29184">
                <a:tc>
                  <a:txBody>
                    <a:bodyPr/>
                    <a:lstStyle/>
                    <a:p>
                      <a:pPr marL="0" indent="0" algn="l">
                        <a:buNone/>
                      </a:pPr>
                      <a:r>
                        <a:rPr lang="en-US" sz="1300" b="1" dirty="0">
                          <a:solidFill>
                            <a:srgbClr val="222222"/>
                          </a:solidFill>
                          <a:latin typeface="Arial" pitchFamily="34" charset="0"/>
                          <a:ea typeface="Arial" pitchFamily="34" charset="-122"/>
                          <a:cs typeface="Arial" pitchFamily="34" charset="-120"/>
                        </a:rPr>
                        <a:t>Quasi-identifiers combined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r">
                        <a:buNone/>
                      </a:pPr>
                      <a:r>
                        <a:rPr lang="en-US" sz="1300" b="1" dirty="0">
                          <a:solidFill>
                            <a:srgbClr val="222222"/>
                          </a:solidFill>
                          <a:latin typeface="Arial" pitchFamily="34" charset="0"/>
                          <a:ea typeface="Arial" pitchFamily="34" charset="-122"/>
                          <a:cs typeface="Arial" pitchFamily="34" charset="-120"/>
                        </a:rPr>
                        <a:t>Reviews with k ≥ 5</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r">
                        <a:buNone/>
                      </a:pPr>
                      <a:r>
                        <a:rPr lang="en-US" sz="1300" b="1" dirty="0">
                          <a:solidFill>
                            <a:srgbClr val="222222"/>
                          </a:solidFill>
                          <a:latin typeface="Arial" pitchFamily="34" charset="0"/>
                          <a:ea typeface="Arial" pitchFamily="34" charset="-122"/>
                          <a:cs typeface="Arial" pitchFamily="34" charset="-120"/>
                        </a:rPr>
                        <a:t>Unique reviews</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category, date, rating</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65.7%</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13.8%</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 review length</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41.0%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30.1%</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 photos, owner reply</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36.3%</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35.4%</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 reply delay (all)</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r">
                        <a:buNone/>
                      </a:pPr>
                      <a:r>
                        <a:rPr lang="en-US" sz="1300" dirty="0">
                          <a:solidFill>
                            <a:srgbClr val="9B0014"/>
                          </a:solidFill>
                          <a:latin typeface="Arial" pitchFamily="34" charset="0"/>
                          <a:ea typeface="Arial" pitchFamily="34" charset="-122"/>
                          <a:cs typeface="Arial" pitchFamily="34" charset="-120"/>
                        </a:rPr>
                        <a:t>34.9%</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r">
                        <a:buNone/>
                      </a:pPr>
                      <a:r>
                        <a:rPr lang="en-US" sz="1300" dirty="0">
                          <a:solidFill>
                            <a:srgbClr val="9B0014"/>
                          </a:solidFill>
                          <a:latin typeface="Arial" pitchFamily="34" charset="0"/>
                          <a:ea typeface="Arial" pitchFamily="34" charset="-122"/>
                          <a:cs typeface="Arial" pitchFamily="34" charset="-120"/>
                        </a:rPr>
                        <a:t>40.2%</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txBox="1"/>
          <p:nvPr/>
        </p:nvSpPr>
        <p:spPr>
          <a:xfrm>
            <a:off x="548640" y="3840480"/>
            <a:ext cx="8046720" cy="365760"/>
          </a:xfrm>
          <a:prstGeom prst="rect">
            <a:avLst/>
          </a:prstGeom>
          <a:noFill/>
          <a:ln/>
        </p:spPr>
        <p:txBody>
          <a:bodyPr wrap="square" lIns="0" tIns="0" rIns="0" bIns="0" rtlCol="0" anchor="t"/>
          <a:lstStyle/>
          <a:p>
            <a:pPr marL="0" indent="0">
              <a:buNone/>
            </a:pPr>
            <a:r>
              <a:rPr lang="en-US" sz="1400" b="1" dirty="0">
                <a:solidFill>
                  <a:schemeClr val="tx1"/>
                </a:solidFill>
              </a:rPr>
              <a:t>Main cause: </a:t>
            </a:r>
            <a:r>
              <a:rPr lang="en-US" sz="1400" dirty="0">
                <a:solidFill>
                  <a:schemeClr val="tx1"/>
                </a:solidFill>
              </a:rPr>
              <a:t>3,807 different category lists, exact months and exact reply delays.</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594360"/>
          </a:xfrm>
          <a:prstGeom prst="rect">
            <a:avLst/>
          </a:prstGeom>
          <a:noFill/>
          <a:ln/>
        </p:spPr>
        <p:txBody>
          <a:bodyPr wrap="square" lIns="0" tIns="0" rIns="0" bIns="0" rtlCol="0" anchor="ctr"/>
          <a:lstStyle/>
          <a:p>
            <a:pPr marL="0" indent="0" algn="l">
              <a:buNone/>
            </a:pPr>
            <a:r>
              <a:rPr lang="en-US" sz="2600" dirty="0">
                <a:solidFill>
                  <a:schemeClr val="tx1"/>
                </a:solidFill>
              </a:rPr>
              <a:t>Code: k-anonymity on all quasi-identifiers</a:t>
            </a:r>
            <a:endParaRPr lang="en-US" sz="2600" dirty="0"/>
          </a:p>
        </p:txBody>
      </p:sp>
      <p:sp>
        <p:nvSpPr>
          <p:cNvPr id="3" name="Text 1"/>
          <p:cNvSpPr txBox="1"/>
          <p:nvPr/>
        </p:nvSpPr>
        <p:spPr>
          <a:xfrm>
            <a:off x="548640" y="1024128"/>
            <a:ext cx="8046720" cy="274320"/>
          </a:xfrm>
          <a:prstGeom prst="rect">
            <a:avLst/>
          </a:prstGeom>
          <a:noFill/>
          <a:ln/>
        </p:spPr>
        <p:txBody>
          <a:bodyPr wrap="square" lIns="0" tIns="0" rIns="0" bIns="0" rtlCol="0" anchor="t"/>
          <a:lstStyle/>
          <a:p>
            <a:pPr marL="0" indent="0">
              <a:buNone/>
            </a:pPr>
            <a:r>
              <a:rPr lang="en-US" sz="1400" dirty="0">
                <a:solidFill>
                  <a:schemeClr val="tx2"/>
                </a:solidFill>
              </a:rPr>
              <a:t>Step 1 generalizes every review; step 2 suppresses values only where a group is still smaller than k</a:t>
            </a:r>
            <a:endParaRPr lang="en-US" sz="1400" dirty="0"/>
          </a:p>
        </p:txBody>
      </p:sp>
      <p:sp>
        <p:nvSpPr>
          <p:cNvPr id="4" name="code all qi background"/>
          <p:cNvSpPr/>
          <p:nvPr/>
        </p:nvSpPr>
        <p:spPr>
          <a:xfrm>
            <a:off x="548640" y="1417320"/>
            <a:ext cx="8046720" cy="3108960"/>
          </a:xfrm>
          <a:prstGeom prst="rect">
            <a:avLst/>
          </a:prstGeom>
          <a:solidFill>
            <a:srgbClr val="F4F4F4"/>
          </a:solidFill>
          <a:ln/>
        </p:spPr>
      </p:sp>
      <p:sp>
        <p:nvSpPr>
          <p:cNvPr id="5" name="code all qi"/>
          <p:cNvSpPr txBox="1"/>
          <p:nvPr/>
        </p:nvSpPr>
        <p:spPr>
          <a:xfrm>
            <a:off x="731520" y="1554480"/>
            <a:ext cx="7680960" cy="2834640"/>
          </a:xfrm>
          <a:prstGeom prst="rect">
            <a:avLst/>
          </a:prstGeom>
          <a:noFill/>
          <a:ln/>
        </p:spPr>
        <p:txBody>
          <a:bodyPr wrap="square" lIns="0" tIns="0" rIns="0" bIns="0" rtlCol="0" anchor="ctr"/>
          <a:lstStyle/>
          <a:p>
            <a:pPr marL="0" indent="0">
              <a:lnSpc>
                <a:spcPct val="110000"/>
              </a:lnSpc>
              <a:buNone/>
            </a:pPr>
            <a:r>
              <a:rPr lang="en-US" sz="1150" dirty="0">
                <a:solidFill>
                  <a:srgbClr val="8A8A8A"/>
                </a:solidFill>
                <a:latin typeface="Courier New" pitchFamily="34" charset="0"/>
                <a:ea typeface="Courier New" pitchFamily="34" charset="-122"/>
                <a:cs typeface="Courier New" pitchFamily="34" charset="-120"/>
              </a:rPr>
              <a:t># kanonymity_all_qi.py (simplified)</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def generalize(row, clen, rlen):                    </a:t>
            </a:r>
            <a:r>
              <a:rPr lang="en-US" sz="1150" dirty="0">
                <a:solidFill>
                  <a:srgbClr val="8A8A8A"/>
                </a:solidFill>
                <a:latin typeface="Courier New" pitchFamily="34" charset="0"/>
                <a:ea typeface="Courier New" pitchFamily="34" charset="-122"/>
                <a:cs typeface="Courier New" pitchFamily="34" charset="-120"/>
              </a:rPr>
              <a:t># step 1: every review</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    return [to_broad_group(row['category']),        </a:t>
            </a:r>
            <a:r>
              <a:rPr lang="en-US" sz="1150" dirty="0">
                <a:solidFill>
                  <a:srgbClr val="8A8A8A"/>
                </a:solidFill>
                <a:latin typeface="Courier New" pitchFamily="34" charset="0"/>
                <a:ea typeface="Courier New" pitchFamily="34" charset="-122"/>
                <a:cs typeface="Courier New" pitchFamily="34" charset="-120"/>
              </a:rPr>
              <a:t># 3,807 lists -&gt; 12 groups</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            to_quarter(row['date']),                </a:t>
            </a:r>
            <a:r>
              <a:rPr lang="en-US" sz="1150" dirty="0">
                <a:solidFill>
                  <a:srgbClr val="8A8A8A"/>
                </a:solidFill>
                <a:latin typeface="Courier New" pitchFamily="34" charset="0"/>
                <a:ea typeface="Courier New" pitchFamily="34" charset="-122"/>
                <a:cs typeface="Courier New" pitchFamily="34" charset="-120"/>
              </a:rPr>
              <a:t># '2019-03' -&gt; '2019-Q1'</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            row['rating'], clen,                    </a:t>
            </a:r>
            <a:r>
              <a:rPr lang="en-US" sz="1150" dirty="0">
                <a:solidFill>
                  <a:srgbClr val="8A8A8A"/>
                </a:solidFill>
                <a:latin typeface="Courier New" pitchFamily="34" charset="0"/>
                <a:ea typeface="Courier New" pitchFamily="34" charset="-122"/>
                <a:cs typeface="Courier New" pitchFamily="34" charset="-120"/>
              </a:rPr>
              <a:t># 5 length classes</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            cap_pics(row['pics_num']),              </a:t>
            </a:r>
            <a:r>
              <a:rPr lang="en-US" sz="1150" dirty="0">
                <a:solidFill>
                  <a:srgbClr val="8A8A8A"/>
                </a:solidFill>
                <a:latin typeface="Courier New" pitchFamily="34" charset="0"/>
                <a:ea typeface="Courier New" pitchFamily="34" charset="-122"/>
                <a:cs typeface="Courier New" pitchFamily="34" charset="-120"/>
              </a:rPr>
              <a:t># 0, 1, 2, '3+'</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            row['has_resp'], rlen,</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            delay_bucket(row['resp_delay_hours'])]  </a:t>
            </a:r>
            <a:r>
              <a:rPr lang="en-US" sz="1150" dirty="0">
                <a:solidFill>
                  <a:srgbClr val="8A8A8A"/>
                </a:solidFill>
                <a:latin typeface="Courier New" pitchFamily="34" charset="0"/>
                <a:ea typeface="Courier New" pitchFamily="34" charset="-122"/>
                <a:cs typeface="Courier New" pitchFamily="34" charset="-120"/>
              </a:rPr>
              <a:t># 5 buckets</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 </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for label, field, how in SUPPRESSION_STEPS:         </a:t>
            </a:r>
            <a:r>
              <a:rPr lang="en-US" sz="1150" dirty="0">
                <a:solidFill>
                  <a:srgbClr val="8A8A8A"/>
                </a:solidFill>
                <a:latin typeface="Courier New" pitchFamily="34" charset="0"/>
                <a:ea typeface="Courier New" pitchFamily="34" charset="-122"/>
                <a:cs typeface="Courier New" pitchFamily="34" charset="-120"/>
              </a:rPr>
              <a:t># step 2: least useful first</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    for i in small_rows(keys, k):                   </a:t>
            </a:r>
            <a:r>
              <a:rPr lang="en-US" sz="1150" dirty="0">
                <a:solidFill>
                  <a:srgbClr val="8A8A8A"/>
                </a:solidFill>
                <a:latin typeface="Courier New" pitchFamily="34" charset="0"/>
                <a:ea typeface="Courier New" pitchFamily="34" charset="-122"/>
                <a:cs typeface="Courier New" pitchFamily="34" charset="-120"/>
              </a:rPr>
              <a:t># reviews in a group &lt; k</a:t>
            </a:r>
            <a:endParaRPr lang="en-US" sz="1150" dirty="0"/>
          </a:p>
          <a:p>
            <a:pPr marL="0" indent="0">
              <a:lnSpc>
                <a:spcPct val="110000"/>
              </a:lnSpc>
              <a:buNone/>
            </a:pPr>
            <a:r>
              <a:rPr lang="en-US" sz="1150" dirty="0">
                <a:solidFill>
                  <a:srgbClr val="222222"/>
                </a:solidFill>
                <a:latin typeface="Courier New" pitchFamily="34" charset="0"/>
                <a:ea typeface="Courier New" pitchFamily="34" charset="-122"/>
                <a:cs typeface="Courier New" pitchFamily="34" charset="-120"/>
              </a:rPr>
              <a:t>        keys[i][POS[field]] = how(keys[i][POS[field]])</a:t>
            </a:r>
            <a:endParaRPr lang="en-US" sz="11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594360"/>
          </a:xfrm>
          <a:prstGeom prst="rect">
            <a:avLst/>
          </a:prstGeom>
          <a:noFill/>
          <a:ln/>
        </p:spPr>
        <p:txBody>
          <a:bodyPr wrap="square" lIns="0" tIns="0" rIns="0" bIns="0" rtlCol="0" anchor="ctr"/>
          <a:lstStyle/>
          <a:p>
            <a:pPr marL="0" indent="0" algn="l">
              <a:buNone/>
            </a:pPr>
            <a:r>
              <a:rPr lang="en-US" sz="2600" dirty="0">
                <a:solidFill>
                  <a:schemeClr val="tx1"/>
                </a:solidFill>
              </a:rPr>
              <a:t>Results (k = 5)</a:t>
            </a:r>
            <a:endParaRPr lang="en-US" sz="2600" dirty="0"/>
          </a:p>
        </p:txBody>
      </p:sp>
      <p:sp>
        <p:nvSpPr>
          <p:cNvPr id="3" name="Text 1"/>
          <p:cNvSpPr txBox="1"/>
          <p:nvPr/>
        </p:nvSpPr>
        <p:spPr>
          <a:xfrm>
            <a:off x="548640" y="1005840"/>
            <a:ext cx="8046720" cy="274320"/>
          </a:xfrm>
          <a:prstGeom prst="rect">
            <a:avLst/>
          </a:prstGeom>
          <a:noFill/>
          <a:ln/>
        </p:spPr>
        <p:txBody>
          <a:bodyPr wrap="square" lIns="0" tIns="0" rIns="0" bIns="0" rtlCol="0" anchor="t"/>
          <a:lstStyle/>
          <a:p>
            <a:pPr marL="0" indent="0">
              <a:buNone/>
            </a:pPr>
            <a:r>
              <a:rPr lang="en-US" sz="1400" dirty="0">
                <a:solidFill>
                  <a:schemeClr val="tx2"/>
                </a:solidFill>
              </a:rPr>
              <a:t>Share of reviews in a group of at least 5</a:t>
            </a:r>
            <a:endParaRPr lang="en-US" sz="1400" dirty="0"/>
          </a:p>
        </p:txBody>
      </p:sp>
      <p:graphicFrame>
        <p:nvGraphicFramePr>
          <p:cNvPr id="9" name="results table"/>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1645920"/>
        </p:xfrm>
        <a:graphic>
          <a:graphicData uri="http://schemas.openxmlformats.org/drawingml/2006/table">
            <a:tbl>
              <a:tblPr/>
              <a:tblGrid>
                <a:gridCol w="2560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29184">
                <a:tc>
                  <a:txBody>
                    <a:bodyPr/>
                    <a:lstStyle/>
                    <a:p>
                      <a:pPr marL="0" indent="0" algn="l">
                        <a:buNone/>
                      </a:pPr>
                      <a:r>
                        <a:rPr lang="en-US" sz="1300" b="1" dirty="0">
                          <a:solidFill>
                            <a:srgbClr val="222222"/>
                          </a:solidFill>
                          <a:latin typeface="Arial" pitchFamily="34" charset="0"/>
                          <a:ea typeface="Arial" pitchFamily="34" charset="-122"/>
                          <a:cs typeface="Arial" pitchFamily="34" charset="-120"/>
                        </a:rPr>
                        <a:t>Quasi-identifiers combined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r">
                        <a:buNone/>
                      </a:pPr>
                      <a:r>
                        <a:rPr lang="en-US" sz="1300" b="1" dirty="0">
                          <a:solidFill>
                            <a:srgbClr val="222222"/>
                          </a:solidFill>
                          <a:latin typeface="Arial" pitchFamily="34" charset="0"/>
                          <a:ea typeface="Arial" pitchFamily="34" charset="-122"/>
                          <a:cs typeface="Arial" pitchFamily="34" charset="-120"/>
                        </a:rPr>
                        <a:t>Published</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r">
                        <a:buNone/>
                      </a:pPr>
                      <a:r>
                        <a:rPr lang="en-US" sz="1300" b="1" dirty="0">
                          <a:solidFill>
                            <a:srgbClr val="222222"/>
                          </a:solidFill>
                          <a:latin typeface="Arial" pitchFamily="34" charset="0"/>
                          <a:ea typeface="Arial" pitchFamily="34" charset="-122"/>
                          <a:cs typeface="Arial" pitchFamily="34" charset="-120"/>
                        </a:rPr>
                        <a:t>Step 1</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tc>
                  <a:txBody>
                    <a:bodyPr/>
                    <a:lstStyle/>
                    <a:p>
                      <a:pPr marL="0" indent="0" algn="r">
                        <a:buNone/>
                      </a:pPr>
                      <a:r>
                        <a:rPr lang="en-US" sz="1300" b="1" dirty="0">
                          <a:solidFill>
                            <a:srgbClr val="222222"/>
                          </a:solidFill>
                          <a:latin typeface="Arial" pitchFamily="34" charset="0"/>
                          <a:ea typeface="Arial" pitchFamily="34" charset="-122"/>
                          <a:cs typeface="Arial" pitchFamily="34" charset="-120"/>
                        </a:rPr>
                        <a:t>Final v7</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1587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tcPr>
                </a:tc>
                <a:extLst>
                  <a:ext uri="{0D108BD9-81ED-4DB2-BD59-A6C34878D82A}">
                    <a16:rowId xmlns:a16="http://schemas.microsoft.com/office/drawing/2014/main" val="10000"/>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category, date, rating</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65.7%</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99.8%</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b="1" dirty="0">
                          <a:solidFill>
                            <a:srgbClr val="9B0014"/>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9525" cap="flat" cmpd="sng" algn="ctr">
                      <a:solidFill>
                        <a:srgbClr val="222222"/>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 review length</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41.0%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99.2%</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b="1" dirty="0">
                          <a:solidFill>
                            <a:srgbClr val="9B0014"/>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 photos, owner reply</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36.3%</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96.4%</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marL="0" indent="0" algn="r">
                        <a:buNone/>
                      </a:pPr>
                      <a:r>
                        <a:rPr lang="en-US" sz="1300" b="1" dirty="0">
                          <a:solidFill>
                            <a:srgbClr val="9B0014"/>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300" dirty="0">
                          <a:solidFill>
                            <a:srgbClr val="222222"/>
                          </a:solidFill>
                          <a:latin typeface="Arial" pitchFamily="34" charset="0"/>
                          <a:ea typeface="Arial" pitchFamily="34" charset="-122"/>
                          <a:cs typeface="Arial" pitchFamily="34" charset="-120"/>
                        </a:rPr>
                        <a:t>+ reply delay (all)</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34.9%</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r">
                        <a:buNone/>
                      </a:pPr>
                      <a:r>
                        <a:rPr lang="en-US" sz="1300" dirty="0">
                          <a:solidFill>
                            <a:srgbClr val="222222"/>
                          </a:solidFill>
                          <a:latin typeface="Arial" pitchFamily="34" charset="0"/>
                          <a:ea typeface="Arial" pitchFamily="34" charset="-122"/>
                          <a:cs typeface="Arial" pitchFamily="34" charset="-120"/>
                        </a:rPr>
                        <a:t>93.6%</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tc>
                  <a:txBody>
                    <a:bodyPr/>
                    <a:lstStyle/>
                    <a:p>
                      <a:pPr marL="0" indent="0" algn="r">
                        <a:buNone/>
                      </a:pPr>
                      <a:r>
                        <a:rPr lang="en-US" sz="1300" b="1" dirty="0">
                          <a:solidFill>
                            <a:srgbClr val="9B0014"/>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73152" marR="73152" marT="27432" marB="27432" anchor="ctr">
                    <a:lnL w="0" cap="flat" cmpd="sng" algn="ctr">
                      <a:noFill/>
                    </a:lnL>
                    <a:lnR w="0" cap="flat" cmpd="sng" algn="ctr">
                      <a:noFill/>
                    </a:lnR>
                    <a:lnT w="6350" cap="flat" cmpd="sng" algn="ctr">
                      <a:solidFill>
                        <a:srgbClr val="E3E3E3"/>
                      </a:solidFill>
                      <a:prstDash val="solid"/>
                      <a:round/>
                      <a:headEnd type="none" w="med" len="med"/>
                      <a:tailEnd type="none" w="med" len="med"/>
                    </a:lnT>
                    <a:lnB w="15875" cap="flat" cmpd="sng" algn="ctr">
                      <a:solidFill>
                        <a:srgbClr val="22222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3200400"/>
            <a:ext cx="8046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Suppression changed </a:t>
            </a:r>
            <a:r>
              <a:rPr lang="en-US" sz="1400" b="1" dirty="0">
                <a:solidFill>
                  <a:schemeClr val="tx1"/>
                </a:solidFill>
              </a:rPr>
              <a:t>1.7%</a:t>
            </a:r>
            <a:r>
              <a:rPr lang="en-US" sz="1400" dirty="0">
                <a:solidFill>
                  <a:schemeClr val="tx1"/>
                </a:solidFill>
              </a:rPr>
              <a:t> of the values, in 6.4% of reviews</a:t>
            </a:r>
            <a:endParaRPr lang="en-US" sz="1400" dirty="0"/>
          </a:p>
          <a:p>
            <a:pPr marL="342900" indent="-342900">
              <a:spcAft>
                <a:spcPts val="600"/>
              </a:spcAft>
              <a:buSzPct val="100000"/>
              <a:buChar char="•"/>
            </a:pPr>
            <a:r>
              <a:rPr lang="en-US" sz="1400" b="1" dirty="0">
                <a:solidFill>
                  <a:schemeClr val="tx1"/>
                </a:solidFill>
              </a:rPr>
              <a:t>4</a:t>
            </a:r>
            <a:r>
              <a:rPr lang="en-US" sz="1400" dirty="0">
                <a:solidFill>
                  <a:schemeClr val="tx1"/>
                </a:solidFill>
              </a:rPr>
              <a:t> reviews removed (0.0005%)</a:t>
            </a:r>
            <a:endParaRPr lang="en-US" sz="1400" dirty="0"/>
          </a:p>
          <a:p>
            <a:pPr marL="342900" indent="-342900">
              <a:spcAft>
                <a:spcPts val="600"/>
              </a:spcAft>
              <a:buSzPct val="100000"/>
              <a:buChar char="•"/>
            </a:pPr>
            <a:r>
              <a:rPr lang="en-US" sz="1400" dirty="0">
                <a:solidFill>
                  <a:schemeClr val="tx1"/>
                </a:solidFill>
              </a:rPr>
              <a:t>Checked on the written file: smallest group = </a:t>
            </a:r>
            <a:r>
              <a:rPr lang="en-US" sz="1400" b="1" dirty="0">
                <a:solidFill>
                  <a:schemeClr val="tx1"/>
                </a:solidFill>
              </a:rPr>
              <a:t>5</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594360"/>
          </a:xfrm>
          <a:prstGeom prst="rect">
            <a:avLst/>
          </a:prstGeom>
          <a:noFill/>
          <a:ln/>
        </p:spPr>
        <p:txBody>
          <a:bodyPr wrap="square" lIns="0" tIns="0" rIns="0" bIns="0" rtlCol="0" anchor="ctr"/>
          <a:lstStyle/>
          <a:p>
            <a:pPr marL="0" indent="0" algn="l">
              <a:buNone/>
            </a:pPr>
            <a:r>
              <a:rPr lang="en-US" sz="2600" dirty="0">
                <a:solidFill>
                  <a:schemeClr val="tx1"/>
                </a:solidFill>
              </a:rPr>
              <a:t>Conclusions and open questions</a:t>
            </a:r>
            <a:endParaRPr lang="en-US" sz="2600" dirty="0"/>
          </a:p>
        </p:txBody>
      </p:sp>
      <p:sp>
        <p:nvSpPr>
          <p:cNvPr id="3" name="Text 1"/>
          <p:cNvSpPr txBox="1"/>
          <p:nvPr/>
        </p:nvSpPr>
        <p:spPr>
          <a:xfrm>
            <a:off x="548640" y="114300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Summary</a:t>
            </a:r>
            <a:endParaRPr lang="en-US" sz="1600" dirty="0"/>
          </a:p>
        </p:txBody>
      </p:sp>
      <p:sp>
        <p:nvSpPr>
          <p:cNvPr id="4" name="Text 2"/>
          <p:cNvSpPr txBox="1"/>
          <p:nvPr/>
        </p:nvSpPr>
        <p:spPr>
          <a:xfrm>
            <a:off x="548640" y="1554480"/>
            <a:ext cx="3657600" cy="24688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Released data is 5-anonymous on all quasi-identifiers</a:t>
            </a:r>
            <a:endParaRPr lang="en-US" sz="1500" dirty="0"/>
          </a:p>
          <a:p>
            <a:pPr marL="342900" indent="-342900">
              <a:spcAft>
                <a:spcPts val="900"/>
              </a:spcAft>
              <a:buSzPct val="100000"/>
              <a:buChar char="•"/>
            </a:pPr>
            <a:r>
              <a:rPr lang="en-US" sz="1500" dirty="0">
                <a:solidFill>
                  <a:schemeClr val="tx1"/>
                </a:solidFill>
              </a:rPr>
              <a:t>841,974 of 841,978 reviews kept</a:t>
            </a:r>
            <a:endParaRPr lang="en-US" sz="1500" dirty="0"/>
          </a:p>
          <a:p>
            <a:pPr marL="342900" indent="-342900">
              <a:spcAft>
                <a:spcPts val="900"/>
              </a:spcAft>
              <a:buSzPct val="100000"/>
              <a:buChar char="•"/>
            </a:pPr>
            <a:r>
              <a:rPr lang="en-US" sz="1500" dirty="0">
                <a:solidFill>
                  <a:schemeClr val="tx1"/>
                </a:solidFill>
              </a:rPr>
              <a:t>Utility (length vs. rating) unchanged</a:t>
            </a:r>
          </a:p>
          <a:p>
            <a:pPr marL="342900" indent="-342900">
              <a:spcAft>
                <a:spcPts val="900"/>
              </a:spcAft>
              <a:buSzPct val="100000"/>
              <a:buChar char="•"/>
            </a:pPr>
            <a:r>
              <a:rPr lang="en-US" sz="1500" dirty="0"/>
              <a:t>Reviews were also shuffled to remove link between them</a:t>
            </a:r>
          </a:p>
          <a:p>
            <a:pPr marL="342900" indent="-342900">
              <a:spcAft>
                <a:spcPts val="900"/>
              </a:spcAft>
              <a:buSzPct val="100000"/>
              <a:buChar char="•"/>
            </a:pPr>
            <a:r>
              <a:rPr lang="en-US" sz="1500" dirty="0">
                <a:solidFill>
                  <a:schemeClr val="tx1"/>
                </a:solidFill>
              </a:rPr>
              <a:t>Next: ℓ-diversity on spent, t-closeness</a:t>
            </a:r>
            <a:endParaRPr lang="en-US" sz="1500" dirty="0"/>
          </a:p>
        </p:txBody>
      </p:sp>
      <p:sp>
        <p:nvSpPr>
          <p:cNvPr id="5" name="Text 3"/>
          <p:cNvSpPr txBox="1"/>
          <p:nvPr/>
        </p:nvSpPr>
        <p:spPr>
          <a:xfrm>
            <a:off x="4480560" y="1143000"/>
            <a:ext cx="4114800" cy="320040"/>
          </a:xfrm>
          <a:prstGeom prst="rect">
            <a:avLst/>
          </a:prstGeom>
          <a:noFill/>
          <a:ln/>
        </p:spPr>
        <p:txBody>
          <a:bodyPr wrap="square" lIns="0" tIns="0" rIns="0" bIns="0" rtlCol="0" anchor="t"/>
          <a:lstStyle/>
          <a:p>
            <a:pPr marL="0" indent="0">
              <a:buNone/>
            </a:pPr>
            <a:r>
              <a:rPr lang="en-US" sz="1600" b="1" dirty="0">
                <a:solidFill>
                  <a:schemeClr val="accent1"/>
                </a:solidFill>
              </a:rPr>
              <a:t>Open questions</a:t>
            </a:r>
            <a:endParaRPr lang="en-US" sz="1600" dirty="0"/>
          </a:p>
        </p:txBody>
      </p:sp>
      <p:sp>
        <p:nvSpPr>
          <p:cNvPr id="6" name="Text 4"/>
          <p:cNvSpPr txBox="1"/>
          <p:nvPr/>
        </p:nvSpPr>
        <p:spPr>
          <a:xfrm>
            <a:off x="4480560" y="1554480"/>
            <a:ext cx="41148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400" dirty="0">
                <a:solidFill>
                  <a:schemeClr val="tx1"/>
                </a:solidFill>
              </a:rPr>
              <a:t>Is k = 5 the right k? With k = 3 we change 4.1% of reviews instead of 6.4%. How do you choose k for public data?</a:t>
            </a:r>
            <a:endParaRPr lang="en-US" sz="1400" dirty="0"/>
          </a:p>
          <a:p>
            <a:pPr marL="342900" indent="-342900">
              <a:spcAft>
                <a:spcPts val="900"/>
              </a:spcAft>
              <a:buSzPct val="100000"/>
              <a:buFont typeface="+mj-lt"/>
              <a:buAutoNum type="arabicPeriod"/>
            </a:pPr>
            <a:r>
              <a:rPr lang="en-US" sz="1400" dirty="0">
                <a:solidFill>
                  <a:schemeClr val="tx1"/>
                </a:solidFill>
              </a:rPr>
              <a:t>A group of only health or religious places still reveals that fact. Is ℓ-diversity a must here?</a:t>
            </a:r>
            <a:endParaRPr lang="en-US" sz="1400" dirty="0"/>
          </a:p>
          <a:p>
            <a:pPr marL="342900" indent="-342900">
              <a:spcAft>
                <a:spcPts val="900"/>
              </a:spcAft>
              <a:buSzPct val="100000"/>
              <a:buFont typeface="+mj-lt"/>
              <a:buAutoNum type="arabicPeriod"/>
            </a:pPr>
            <a:r>
              <a:rPr lang="en-US" sz="1400" dirty="0">
                <a:solidFill>
                  <a:schemeClr val="tx1"/>
                </a:solidFill>
              </a:rPr>
              <a:t>Would an LLM sentiment score keep more utility than the length class, and still be safe?</a:t>
            </a:r>
            <a:endParaRPr lang="en-US" sz="1400" dirty="0"/>
          </a:p>
        </p:txBody>
      </p:sp>
      <p:sp>
        <p:nvSpPr>
          <p:cNvPr id="7" name="Text 5"/>
          <p:cNvSpPr txBox="1"/>
          <p:nvPr/>
        </p:nvSpPr>
        <p:spPr>
          <a:xfrm>
            <a:off x="548640" y="4069080"/>
            <a:ext cx="3474720" cy="411480"/>
          </a:xfrm>
          <a:prstGeom prst="rect">
            <a:avLst/>
          </a:prstGeom>
          <a:noFill/>
          <a:ln/>
        </p:spPr>
        <p:txBody>
          <a:bodyPr wrap="square" lIns="0" tIns="0" rIns="0" bIns="0" rtlCol="0" anchor="t"/>
          <a:lstStyle/>
          <a:p>
            <a:pPr marL="0" indent="0">
              <a:buNone/>
            </a:pPr>
            <a:r>
              <a:rPr lang="en-US" sz="2000" i="1" dirty="0">
                <a:solidFill>
                  <a:schemeClr val="tx1"/>
                </a:solidFill>
                <a:latin typeface="Georgia" pitchFamily="34" charset="0"/>
                <a:ea typeface="Georgia" pitchFamily="34" charset="-122"/>
                <a:cs typeface="Georgia" pitchFamily="34" charset="-120"/>
              </a:rPr>
              <a:t>Thank you!</a:t>
            </a:r>
            <a:endParaRPr lang="en-US" sz="20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tx2"/>
                </a:solidFill>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PPIA HW1 plain">
  <a:themeElements>
    <a:clrScheme name="PPIA HW1 plain">
      <a:dk1>
        <a:srgbClr val="222222"/>
      </a:dk1>
      <a:lt1>
        <a:srgbClr val="FFFFFF"/>
      </a:lt1>
      <a:dk2>
        <a:srgbClr val="666666"/>
      </a:dk2>
      <a:lt2>
        <a:srgbClr val="F4F4F4"/>
      </a:lt2>
      <a:accent1>
        <a:srgbClr val="9B0014"/>
      </a:accent1>
      <a:accent2>
        <a:srgbClr val="44546A"/>
      </a:accent2>
      <a:accent3>
        <a:srgbClr val="7F7F7F"/>
      </a:accent3>
      <a:accent4>
        <a:srgbClr val="A5A5A5"/>
      </a:accent4>
      <a:accent5>
        <a:srgbClr val="5B6B7F"/>
      </a:accent5>
      <a:accent6>
        <a:srgbClr val="B0B7BF"/>
      </a:accent6>
      <a:hlink>
        <a:srgbClr val="9B0014"/>
      </a:hlink>
      <a:folHlink>
        <a:srgbClr val="7F7F7F"/>
      </a:folHlink>
    </a:clrScheme>
    <a:fontScheme name="PPIA HW1 pl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1773</Words>
  <Application>Microsoft Office PowerPoint</Application>
  <PresentationFormat>On-screen Show (16:9)</PresentationFormat>
  <Paragraphs>181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Courier New</vt:lpstr>
      <vt:lpstr>Georgia</vt:lpstr>
      <vt:lpstr>PPIA HW1 plain</vt:lpstr>
      <vt:lpstr>PowerPoint Presentation</vt:lpstr>
      <vt:lpstr>The context</vt:lpstr>
      <vt:lpstr>The data: types of attributes</vt:lpstr>
      <vt:lpstr>Adversaries</vt:lpstr>
      <vt:lpstr>Utility: do unhappy customers write more?</vt:lpstr>
      <vt:lpstr>The problem we found</vt:lpstr>
      <vt:lpstr>Code: k-anonymity on all quasi-identifiers</vt:lpstr>
      <vt:lpstr>Results (k = 5)</vt:lpstr>
      <vt:lpstr>Conclusions and open 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Anonymizing the Google Local Reviews Dataset</dc:title>
  <dc:subject>PptxGenJS Presentation</dc:subject>
  <dc:creator>Group 5</dc:creator>
  <cp:lastModifiedBy>Ivan</cp:lastModifiedBy>
  <cp:revision>4</cp:revision>
  <dcterms:created xsi:type="dcterms:W3CDTF">2026-10-21T19:51:11Z</dcterms:created>
  <dcterms:modified xsi:type="dcterms:W3CDTF">2026-10-21T20:18:05Z</dcterms:modified>
</cp:coreProperties>
</file>